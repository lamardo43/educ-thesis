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Aptos Narrow" panose="020B0004020202020204" pitchFamily="34" charset="0"/>
      <p:regular r:id="rId17"/>
      <p:bold r:id="rId18"/>
      <p:italic r:id="rId19"/>
      <p:boldItalic r:id="rId20"/>
    </p:embeddedFont>
    <p:embeddedFont>
      <p:font typeface="Gilroy Bold" panose="00000800000000000000" pitchFamily="50" charset="-52"/>
      <p:bold r:id="rId21"/>
    </p:embeddedFont>
    <p:embeddedFont>
      <p:font typeface="Gilroy Medium" panose="00000600000000000000" pitchFamily="5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4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60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01.06.2026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01.06.2026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01.06.2026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01.06.2026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01.06.2026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01.06.2026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01.06.2026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01.06.2026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200" y="1122030"/>
            <a:ext cx="4909671" cy="4942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1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JAR/WAR-процессов;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; 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Linux;</a:t>
            </a:r>
          </a:p>
          <a:p>
            <a:pPr>
              <a:lnSpc>
                <a:spcPct val="11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решает задачу централизованного управления распределённой инфраструктурой </a:t>
            </a:r>
            <a:r>
              <a:rPr lang="en-US" sz="1600" dirty="0"/>
              <a:t>mock</a:t>
            </a:r>
            <a:r>
              <a:rPr lang="ru-RU" sz="1600" dirty="0"/>
              <a:t>-сервисов в условиях импортозамещения.</a:t>
            </a:r>
          </a:p>
        </p:txBody>
      </p:sp>
      <p:pic>
        <p:nvPicPr>
          <p:cNvPr id="1026" name="Picture 2" descr="To Mock or not to Mock, that is the question… | Cristiano Cunha personal  blog on automation and testing.">
            <a:extLst>
              <a:ext uri="{FF2B5EF4-FFF2-40B4-BE49-F238E27FC236}">
                <a16:creationId xmlns:a16="http://schemas.microsoft.com/office/drawing/2014/main" id="{1DAB2F8F-3D88-62CD-B9F5-06939CF78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3652" y="1294722"/>
            <a:ext cx="6341782" cy="4640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339916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Цель:</a:t>
            </a:r>
            <a:r>
              <a:rPr lang="ru-RU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Задачи:</a:t>
            </a:r>
            <a:endParaRPr lang="ru-RU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анализ предметной области и существующих подходов.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Спроектировать архитектуру программного комплекса.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Обосновать выбор технологического стека.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Разработать алгоритмы </a:t>
            </a:r>
            <a:r>
              <a:rPr lang="ru-RU" dirty="0" err="1"/>
              <a:t>проксирования</a:t>
            </a:r>
            <a:r>
              <a:rPr lang="ru-RU" dirty="0"/>
              <a:t>, Rate </a:t>
            </a:r>
            <a:r>
              <a:rPr lang="ru-RU" dirty="0" err="1"/>
              <a:t>Limiting</a:t>
            </a:r>
            <a:r>
              <a:rPr lang="ru-RU" dirty="0"/>
              <a:t> и API управления.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Реализовать систему хранения конфигураций и контроля состояний.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 Провести тестирование в среде ОС Astra Linux.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336DC11-6039-E2E6-AD68-0E377D16C3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073065"/>
            <a:ext cx="7560404" cy="5060464"/>
          </a:xfrm>
          <a:prstGeom prst="rect">
            <a:avLst/>
          </a:prstGeom>
        </p:spPr>
      </p:pic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2183D14-AFAE-7A8F-C3EA-489652D8C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6222" y="2355405"/>
            <a:ext cx="941542" cy="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Redis SVG and transparent PNG icons | TechIcons">
            <a:extLst>
              <a:ext uri="{FF2B5EF4-FFF2-40B4-BE49-F238E27FC236}">
                <a16:creationId xmlns:a16="http://schemas.microsoft.com/office/drawing/2014/main" id="{AB39A782-0B95-12FE-464E-021B27DCE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5634" y="1856558"/>
            <a:ext cx="1125127" cy="112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FastAPI — UberLab 7 documentation">
            <a:extLst>
              <a:ext uri="{FF2B5EF4-FFF2-40B4-BE49-F238E27FC236}">
                <a16:creationId xmlns:a16="http://schemas.microsoft.com/office/drawing/2014/main" id="{3FBB3363-EB8D-ACF5-A5D1-FAC152C14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59" y="1258790"/>
            <a:ext cx="2367897" cy="854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ML - Wikipedia">
            <a:extLst>
              <a:ext uri="{FF2B5EF4-FFF2-40B4-BE49-F238E27FC236}">
                <a16:creationId xmlns:a16="http://schemas.microsoft.com/office/drawing/2014/main" id="{9C3207DC-53C6-F54E-9B33-231CAE29C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73" y="3750673"/>
            <a:ext cx="962492" cy="9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Jinja2 - secure and fast Python template engine — Quintagroup">
            <a:extLst>
              <a:ext uri="{FF2B5EF4-FFF2-40B4-BE49-F238E27FC236}">
                <a16:creationId xmlns:a16="http://schemas.microsoft.com/office/drawing/2014/main" id="{399D4E95-BAC4-0255-C7C9-E090FD491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434" y="3876316"/>
            <a:ext cx="1273509" cy="1273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Российская операционная система Astra Linux, официальная русская ОС">
            <a:extLst>
              <a:ext uri="{FF2B5EF4-FFF2-40B4-BE49-F238E27FC236}">
                <a16:creationId xmlns:a16="http://schemas.microsoft.com/office/drawing/2014/main" id="{FB2D7E23-B26E-5CC3-9B08-340F09D23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125" y="5166892"/>
            <a:ext cx="2575647" cy="97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9126" y="1534238"/>
            <a:ext cx="6198469" cy="4518969"/>
          </a:xfrm>
          <a:prstGeom prst="rect">
            <a:avLst/>
          </a:prstGeom>
        </p:spPr>
      </p:pic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76625936-398F-5383-1D69-99BCCFC1F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077903"/>
              </p:ext>
            </p:extLst>
          </p:nvPr>
        </p:nvGraphicFramePr>
        <p:xfrm>
          <a:off x="201584" y="1071868"/>
          <a:ext cx="5331708" cy="489443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275893">
                  <a:extLst>
                    <a:ext uri="{9D8B030D-6E8A-4147-A177-3AD203B41FA5}">
                      <a16:colId xmlns:a16="http://schemas.microsoft.com/office/drawing/2014/main" val="3718854607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122733606"/>
                    </a:ext>
                  </a:extLst>
                </a:gridCol>
                <a:gridCol w="2344615">
                  <a:extLst>
                    <a:ext uri="{9D8B030D-6E8A-4147-A177-3AD203B41FA5}">
                      <a16:colId xmlns:a16="http://schemas.microsoft.com/office/drawing/2014/main" val="4218300197"/>
                    </a:ext>
                  </a:extLst>
                </a:gridCol>
              </a:tblGrid>
              <a:tr h="258953"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Ключ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Тип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400" u="none" strike="noStrike" dirty="0">
                          <a:effectLst/>
                        </a:rPr>
                        <a:t>Назначение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3735483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mocks:{filename}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и состояние заглушки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3053325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mocks:registry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Множество имён файлов всех заглушек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6743543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hosts:{hostname}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Hash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>
                          <a:effectLst/>
                        </a:rPr>
                        <a:t>Конфигурация целевого хоста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5230"/>
                  </a:ext>
                </a:extLst>
              </a:tr>
              <a:tr h="6366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hosts:registry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hostname </a:t>
                      </a:r>
                      <a:r>
                        <a:rPr lang="ru-RU" sz="1200" u="none" strike="noStrike" dirty="0">
                          <a:effectLst/>
                        </a:rPr>
                        <a:t>всех хостов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1967908"/>
                  </a:ext>
                </a:extLst>
              </a:tr>
              <a:tr h="38485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accounts:{uuid}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Учётная запись </a:t>
                      </a:r>
                      <a:r>
                        <a:rPr lang="en-US" sz="1200" u="none" strike="noStrike" dirty="0">
                          <a:effectLst/>
                        </a:rPr>
                        <a:t>SSH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6145835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accounts:registry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Set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Множество </a:t>
                      </a:r>
                      <a:r>
                        <a:rPr lang="en-US" sz="1200" u="none" strike="noStrike" dirty="0">
                          <a:effectLst/>
                        </a:rPr>
                        <a:t>UUID </a:t>
                      </a:r>
                      <a:r>
                        <a:rPr lang="ru-RU" sz="1200" u="none" strike="noStrike" dirty="0">
                          <a:effectLst/>
                        </a:rPr>
                        <a:t>учётных записей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7430999"/>
                  </a:ext>
                </a:extLst>
              </a:tr>
              <a:tr h="5107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rate:{filename}:{window}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String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 err="1">
                          <a:effectLst/>
                        </a:rPr>
                        <a:t>Счётчик</a:t>
                      </a:r>
                      <a:r>
                        <a:rPr lang="en-US" sz="1200" u="none" strike="noStrike" dirty="0">
                          <a:effectLst/>
                        </a:rPr>
                        <a:t> Rate Limiter (с TTL)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2347782"/>
                  </a:ext>
                </a:extLst>
              </a:tr>
              <a:tr h="762555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settings:global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Hash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u="none" strike="noStrike" dirty="0">
                          <a:effectLst/>
                        </a:rPr>
                        <a:t>Глобальные параметры приложения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2181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SSH/SFTP;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137" y="1212568"/>
            <a:ext cx="7231664" cy="49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pic>
        <p:nvPicPr>
          <p:cNvPr id="10" name="Рисунок 9" descr="Изображение выглядит как текст, снимок экрана, Шриф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D5AC783-F67F-FDD4-576E-ACC0063AD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144" y="1024064"/>
            <a:ext cx="3815968" cy="5296681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График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E4D3A63-67A0-38E0-F789-B8AE9C3085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" t="1189" r="23539" b="1623"/>
          <a:stretch/>
        </p:blipFill>
        <p:spPr>
          <a:xfrm>
            <a:off x="457200" y="1234954"/>
            <a:ext cx="5990688" cy="41596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FB37F89-4057-D34E-9133-E401A41AB21D}"/>
              </a:ext>
            </a:extLst>
          </p:cNvPr>
          <p:cNvSpPr txBox="1"/>
          <p:nvPr/>
        </p:nvSpPr>
        <p:spPr>
          <a:xfrm>
            <a:off x="457200" y="5394578"/>
            <a:ext cx="5246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ось X — "Время", ось Y — "Интенсивность кодов ответа</a:t>
            </a:r>
            <a:r>
              <a:rPr lang="en-US" sz="1200" dirty="0"/>
              <a:t> </a:t>
            </a:r>
            <a:r>
              <a:rPr lang="ru-RU" sz="1200" dirty="0"/>
              <a:t>(</a:t>
            </a:r>
            <a:r>
              <a:rPr lang="en-US" sz="1200" dirty="0"/>
              <a:t>RPS</a:t>
            </a:r>
            <a:r>
              <a:rPr lang="ru-RU" sz="1200" dirty="0"/>
              <a:t>)"</a:t>
            </a:r>
          </a:p>
        </p:txBody>
      </p:sp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pic>
        <p:nvPicPr>
          <p:cNvPr id="4" name="Рисунок 3" descr="Изображение выглядит как текст, диаграмма, снимок экрана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4A0CBAD-5AC8-3BE7-31EC-E2ABAB338B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4488" y="1206979"/>
            <a:ext cx="5629275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19435" y="6171414"/>
            <a:ext cx="670981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5CA95D3-A3D5-12BC-47DC-7F8B40BF8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443" y="1384300"/>
            <a:ext cx="7324973" cy="472555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B23D4B4-8109-651F-C3BF-646169597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58" y="1384300"/>
            <a:ext cx="3478692" cy="472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44941" y="6171414"/>
            <a:ext cx="545475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137228"/>
              </p:ext>
            </p:extLst>
          </p:nvPr>
        </p:nvGraphicFramePr>
        <p:xfrm>
          <a:off x="914400" y="1659284"/>
          <a:ext cx="10282239" cy="35511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Автоматический перезапуск </a:t>
                      </a:r>
                      <a:r>
                        <a:rPr lang="en-US" sz="1600" dirty="0"/>
                        <a:t>mock</a:t>
                      </a:r>
                      <a:r>
                        <a:rPr lang="ru-RU" sz="1600" dirty="0"/>
                        <a:t>-сервисов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Обнаружение сбоя планировщиком </a:t>
                      </a:r>
                      <a:r>
                        <a:rPr lang="en-US" sz="1600" dirty="0" err="1"/>
                        <a:t>HealthChecker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 err="1"/>
                        <a:t>Автовозврат</a:t>
                      </a:r>
                      <a:r>
                        <a:rPr lang="ru-RU" sz="1600" dirty="0"/>
                        <a:t>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09377" y="1079764"/>
            <a:ext cx="10729120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751237"/>
              </p:ext>
            </p:extLst>
          </p:nvPr>
        </p:nvGraphicFramePr>
        <p:xfrm>
          <a:off x="271929" y="2583462"/>
          <a:ext cx="4897718" cy="210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8604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13990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1430101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1474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0725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Базовая нагрузка </a:t>
                      </a:r>
                      <a:br>
                        <a:rPr lang="en-US" sz="1200" dirty="0"/>
                      </a:br>
                      <a:r>
                        <a:rPr lang="ru-RU" sz="1200" dirty="0"/>
                        <a:t>(10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Нарастающая нагрузка (500 </a:t>
                      </a:r>
                      <a:r>
                        <a:rPr lang="en-US" sz="1200" dirty="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Нарастающая нагрузка (1000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dirty="0" err="1"/>
                        <a:t>proxy_total_ms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dirty="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3795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/>
                        <a:t>Rate Limiting (</a:t>
                      </a:r>
                      <a:r>
                        <a:rPr lang="ru-RU" sz="1200"/>
                        <a:t>лимит 250, нагрузка 500 </a:t>
                      </a:r>
                      <a:r>
                        <a:rPr lang="en-US" sz="12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200" b="1" dirty="0"/>
                        <a:t>0,13%</a:t>
                      </a:r>
                      <a:endParaRPr lang="ru-RU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  <p:pic>
        <p:nvPicPr>
          <p:cNvPr id="8" name="Рисунок 7" descr="Изображение выглядит как текст, снимок экрана, График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BC9D771-3416-C5EC-0613-B2FF6FA0D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" t="953" b="715"/>
          <a:stretch/>
        </p:blipFill>
        <p:spPr>
          <a:xfrm>
            <a:off x="5446283" y="1660838"/>
            <a:ext cx="6406674" cy="39041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4BA0F6-39A7-D601-8DEA-8D911A94C3B1}"/>
              </a:ext>
            </a:extLst>
          </p:cNvPr>
          <p:cNvSpPr txBox="1"/>
          <p:nvPr/>
        </p:nvSpPr>
        <p:spPr>
          <a:xfrm>
            <a:off x="8257101" y="5564982"/>
            <a:ext cx="35958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ось X — "Время", ось Y — "Задержка (мс)"</a:t>
            </a:r>
          </a:p>
        </p:txBody>
      </p:sp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97129" y="6171414"/>
            <a:ext cx="593287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49527" y="1405284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Задержка прокси: ≤ 3,01 мс при нагрузке до 500 RPS;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Точность Rate </a:t>
            </a:r>
            <a:r>
              <a:rPr lang="ru-RU" dirty="0" err="1"/>
              <a:t>Limiting</a:t>
            </a:r>
            <a:r>
              <a:rPr lang="ru-RU" dirty="0"/>
              <a:t>: отклонение 0,13% от теоретического лимита;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Время обнаружения сбоя: ≤ 30 с;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Впервые реализовано централизованное управление с индивидуальным Rate </a:t>
            </a:r>
            <a:r>
              <a:rPr lang="ru-RU" dirty="0" err="1"/>
              <a:t>Limiting</a:t>
            </a:r>
            <a:r>
              <a:rPr lang="ru-RU" dirty="0"/>
              <a:t> и </a:t>
            </a:r>
            <a:r>
              <a:rPr lang="ru-RU" dirty="0" err="1"/>
              <a:t>агентно</a:t>
            </a:r>
            <a:r>
              <a:rPr lang="ru-RU" dirty="0"/>
              <a:t>-независимым SSH/SCP-взаимодействием без ПО на целевых узла</a:t>
            </a:r>
            <a:r>
              <a:rPr lang="en-US" dirty="0"/>
              <a:t>;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Направления развития: динамическая маршрутизация по содержимому запроса, ролевая модель доступа, поддержка не-JVM артефактов;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962</TotalTime>
  <Words>955</Words>
  <Application>Microsoft Office PowerPoint</Application>
  <PresentationFormat>Широкоэкранный</PresentationFormat>
  <Paragraphs>207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Gilroy Medium</vt:lpstr>
      <vt:lpstr>Aptos Narrow</vt:lpstr>
      <vt:lpstr>Verdana</vt:lpstr>
      <vt:lpstr>Gilroy Bold</vt:lpstr>
      <vt:lpstr>Arial</vt:lpstr>
      <vt:lpstr>Calibri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48</cp:revision>
  <dcterms:created xsi:type="dcterms:W3CDTF">2024-05-27T20:04:35Z</dcterms:created>
  <dcterms:modified xsi:type="dcterms:W3CDTF">2026-06-01T13:28:12Z</dcterms:modified>
</cp:coreProperties>
</file>
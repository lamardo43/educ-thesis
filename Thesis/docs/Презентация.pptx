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7"/>
  </p:notesMasterIdLst>
  <p:sldIdLst>
    <p:sldId id="256" r:id="rId2"/>
    <p:sldId id="274" r:id="rId3"/>
    <p:sldId id="272" r:id="rId4"/>
    <p:sldId id="273" r:id="rId5"/>
    <p:sldId id="275" r:id="rId6"/>
    <p:sldId id="276" r:id="rId7"/>
    <p:sldId id="284" r:id="rId8"/>
    <p:sldId id="277" r:id="rId9"/>
    <p:sldId id="278" r:id="rId10"/>
    <p:sldId id="279" r:id="rId11"/>
    <p:sldId id="280" r:id="rId12"/>
    <p:sldId id="281" r:id="rId13"/>
    <p:sldId id="285" r:id="rId14"/>
    <p:sldId id="282" r:id="rId15"/>
    <p:sldId id="283" r:id="rId16"/>
  </p:sldIdLst>
  <p:sldSz cx="12192000" cy="6858000"/>
  <p:notesSz cx="6858000" cy="91440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roy Bold" panose="00000800000000000000" pitchFamily="50" charset="-52"/>
      <p:bold r:id="rId22"/>
    </p:embeddedFont>
    <p:embeddedFont>
      <p:font typeface="Gilroy Medium" panose="00000600000000000000" pitchFamily="50" charset="-52"/>
      <p:regular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44" y="60"/>
      </p:cViewPr>
      <p:guideLst>
        <p:guide orient="horz" pos="504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8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611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698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04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128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867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106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74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102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066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256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993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93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03.06.2026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03.06.2026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03.06.2026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03.06.2026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03.06.2026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03.06.2026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03.06.2026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ВЫПУСКНАЯ КВАЛИФИКАЦИОННАЯ РАБОТА</a:t>
            </a: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«Системная и программная инженерия»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СИСТЕМЫ ДЛЯ ПРОКСИРОВАНИЯ 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МОНИТОРИНГА ИМИТАЦИОННЫХ СЕРВИСОВ В СРЕДЕ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НАГРУЗОЧНОГО ТЕСТИРОВАНИЯ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7373922" y="4597930"/>
            <a:ext cx="42217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Медведев Клим Николаевич,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группа 221-329.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Научный руководитель: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Gilroy Medium" panose="00000600000000000000" charset="-52"/>
              </a:rPr>
              <a:t>Кружалов</a:t>
            </a:r>
            <a:r>
              <a:rPr lang="ru-RU" sz="1800" dirty="0">
                <a:latin typeface="Gilroy Medium" panose="00000600000000000000" charset="-52"/>
              </a:rPr>
              <a:t> Алексей Сергеевич,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</a:t>
            </a:r>
            <a:r>
              <a:rPr lang="ru-RU" sz="1800" dirty="0">
                <a:latin typeface="Gilroy Medium" panose="00000600000000000000" charset="-52"/>
              </a:rPr>
              <a:t>тарший преп</a:t>
            </a:r>
            <a:r>
              <a:rPr lang="ru-RU" dirty="0">
                <a:latin typeface="Gilroy Medium" panose="00000600000000000000" charset="-52"/>
              </a:rPr>
              <a:t>одаватель.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Москва, 4 июня 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Актуальность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457200" y="1122030"/>
            <a:ext cx="4729111" cy="4942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dirty="0"/>
              <a:t>При нагрузочном тестировании сложных систем требуются десятки имитационных сервисов (заглушек). Ручное управление ими — трудоёмко и ненадёжно.</a:t>
            </a:r>
          </a:p>
          <a:p>
            <a:pPr>
              <a:lnSpc>
                <a:spcPct val="110000"/>
              </a:lnSpc>
            </a:pPr>
            <a:r>
              <a:rPr lang="ru-RU" sz="1600" b="1" dirty="0"/>
              <a:t>Проблемы существующих решений:</a:t>
            </a:r>
            <a:r>
              <a:rPr lang="ru-RU" sz="1600" dirty="0"/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</a:t>
            </a:r>
            <a:r>
              <a:rPr lang="ru-RU" sz="1600" dirty="0" err="1"/>
              <a:t>ireMock</a:t>
            </a:r>
            <a:r>
              <a:rPr lang="ru-RU" sz="1600" dirty="0"/>
              <a:t>, </a:t>
            </a:r>
            <a:r>
              <a:rPr lang="ru-RU" sz="1600" dirty="0" err="1"/>
              <a:t>MockServer</a:t>
            </a:r>
            <a:r>
              <a:rPr lang="ru-RU" sz="1600" dirty="0"/>
              <a:t>, </a:t>
            </a:r>
            <a:r>
              <a:rPr lang="ru-RU" sz="1600" dirty="0" err="1"/>
              <a:t>Mountebank</a:t>
            </a:r>
            <a:r>
              <a:rPr lang="ru-RU" sz="1600" dirty="0"/>
              <a:t> не управляют инфраструктурой JAR/WAR-процессов;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Apache </a:t>
            </a:r>
            <a:r>
              <a:rPr lang="ru-RU" sz="1600" dirty="0" err="1"/>
              <a:t>Tomcat</a:t>
            </a:r>
            <a:r>
              <a:rPr lang="ru-RU" sz="1600" dirty="0"/>
              <a:t> избыточен и не поддерживает динамический Rate </a:t>
            </a:r>
            <a:r>
              <a:rPr lang="ru-RU" sz="1600" dirty="0" err="1"/>
              <a:t>Limiting</a:t>
            </a:r>
            <a:r>
              <a:rPr lang="ru-RU" sz="1600" dirty="0"/>
              <a:t>;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Все зарубежные решения косвенно совместимы с ОС Astra Linux;</a:t>
            </a:r>
          </a:p>
          <a:p>
            <a:pPr>
              <a:lnSpc>
                <a:spcPct val="110000"/>
              </a:lnSpc>
            </a:pPr>
            <a:r>
              <a:rPr lang="ru-RU" sz="1600" b="1" dirty="0"/>
              <a:t>Вывод:</a:t>
            </a:r>
            <a:r>
              <a:rPr lang="ru-RU" sz="1600" dirty="0"/>
              <a:t> ни одно из существующих решений не решает задачу централизованного управления распределённой инфраструктурой </a:t>
            </a:r>
            <a:r>
              <a:rPr lang="en-US" sz="1600" dirty="0"/>
              <a:t>mock</a:t>
            </a:r>
            <a:r>
              <a:rPr lang="ru-RU" sz="1600" dirty="0"/>
              <a:t>-сервисов в условиях импортозамещения.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7213A9-A074-E9FE-F63A-FE52F9B6D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4568" y="1284247"/>
            <a:ext cx="6787590" cy="4731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C1C5E4-62FF-86E0-7D93-D49B794F6D0F}"/>
              </a:ext>
            </a:extLst>
          </p:cNvPr>
          <p:cNvSpPr txBox="1"/>
          <p:nvPr/>
        </p:nvSpPr>
        <p:spPr>
          <a:xfrm>
            <a:off x="5194568" y="5978198"/>
            <a:ext cx="6787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Схема нагрузочного тестирования при использовании имитационных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5316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Цель и задачи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 работы</a:t>
            </a:r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423877" y="1339916"/>
            <a:ext cx="11344245" cy="460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Цель:</a:t>
            </a:r>
            <a:r>
              <a:rPr lang="ru-RU" dirty="0"/>
              <a:t> спроектировать и разработать автоматизированную информационную систему для централизованного управления имитационными сервисами в среде нагрузочного тестирования и мониторинга их состояния.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Задачи:</a:t>
            </a:r>
            <a:endParaRPr lang="ru-RU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Провести анализ предметной области и существующих подходов.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Спроектировать архитектуру программного комплекса.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Обосновать выбор технологического стека.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Разработать алгоритмы </a:t>
            </a:r>
            <a:r>
              <a:rPr lang="ru-RU" dirty="0" err="1"/>
              <a:t>проксирования</a:t>
            </a:r>
            <a:r>
              <a:rPr lang="ru-RU" dirty="0"/>
              <a:t>, Rate </a:t>
            </a:r>
            <a:r>
              <a:rPr lang="ru-RU" dirty="0" err="1"/>
              <a:t>Limiting</a:t>
            </a:r>
            <a:r>
              <a:rPr lang="ru-RU" dirty="0"/>
              <a:t> и API управления.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Реализовать систему хранения конфигураций и контроля состояний.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 Провести тестирование в среде ОС Astra Linux.</a:t>
            </a:r>
          </a:p>
        </p:txBody>
      </p:sp>
    </p:spTree>
    <p:extLst>
      <p:ext uri="{BB962C8B-B14F-4D97-AF65-F5344CB8AC3E}">
        <p14:creationId xmlns:p14="http://schemas.microsoft.com/office/powerpoint/2010/main" val="40378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413512"/>
            <a:ext cx="8289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Анализ аналогов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497130" y="1564009"/>
            <a:ext cx="743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Сравнительный анализ существующих решений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B75CB1B-6AEB-C021-38CD-884737E09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53544"/>
              </p:ext>
            </p:extLst>
          </p:nvPr>
        </p:nvGraphicFramePr>
        <p:xfrm>
          <a:off x="497130" y="2135036"/>
          <a:ext cx="11197740" cy="31589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39548">
                  <a:extLst>
                    <a:ext uri="{9D8B030D-6E8A-4147-A177-3AD203B41FA5}">
                      <a16:colId xmlns:a16="http://schemas.microsoft.com/office/drawing/2014/main" val="2215622627"/>
                    </a:ext>
                  </a:extLst>
                </a:gridCol>
                <a:gridCol w="2239548">
                  <a:extLst>
                    <a:ext uri="{9D8B030D-6E8A-4147-A177-3AD203B41FA5}">
                      <a16:colId xmlns:a16="http://schemas.microsoft.com/office/drawing/2014/main" val="2193038394"/>
                    </a:ext>
                  </a:extLst>
                </a:gridCol>
                <a:gridCol w="2239548">
                  <a:extLst>
                    <a:ext uri="{9D8B030D-6E8A-4147-A177-3AD203B41FA5}">
                      <a16:colId xmlns:a16="http://schemas.microsoft.com/office/drawing/2014/main" val="1993197335"/>
                    </a:ext>
                  </a:extLst>
                </a:gridCol>
                <a:gridCol w="2239548">
                  <a:extLst>
                    <a:ext uri="{9D8B030D-6E8A-4147-A177-3AD203B41FA5}">
                      <a16:colId xmlns:a16="http://schemas.microsoft.com/office/drawing/2014/main" val="2629393087"/>
                    </a:ext>
                  </a:extLst>
                </a:gridCol>
                <a:gridCol w="2239548">
                  <a:extLst>
                    <a:ext uri="{9D8B030D-6E8A-4147-A177-3AD203B41FA5}">
                      <a16:colId xmlns:a16="http://schemas.microsoft.com/office/drawing/2014/main" val="3470350277"/>
                    </a:ext>
                  </a:extLst>
                </a:gridCol>
              </a:tblGrid>
              <a:tr h="339555">
                <a:tc>
                  <a:txBody>
                    <a:bodyPr/>
                    <a:lstStyle/>
                    <a:p>
                      <a:r>
                        <a:rPr lang="ru-RU" sz="1600"/>
                        <a:t>Критерий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WireMock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MockServer</a:t>
                      </a:r>
                      <a:endParaRPr lang="en-US" sz="16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Apache Tomcat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Разраб. система</a:t>
                      </a:r>
                      <a:endParaRPr lang="ru-RU" sz="160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36299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dirty="0"/>
                        <a:t>Управление JAR/WAR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Да</a:t>
                      </a:r>
                      <a:endParaRPr lang="ru-RU" sz="16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6040357"/>
                  </a:ext>
                </a:extLst>
              </a:tr>
              <a:tr h="296462">
                <a:tc>
                  <a:txBody>
                    <a:bodyPr/>
                    <a:lstStyle/>
                    <a:p>
                      <a:r>
                        <a:rPr lang="ru-RU" sz="1600" dirty="0"/>
                        <a:t>Централизованная </a:t>
                      </a:r>
                      <a:r>
                        <a:rPr lang="ru-RU" sz="1600" dirty="0" err="1"/>
                        <a:t>оркестрация</a:t>
                      </a:r>
                      <a:endParaRPr lang="ru-RU" sz="16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Частично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Да</a:t>
                      </a:r>
                      <a:endParaRPr lang="ru-RU" sz="160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54382769"/>
                  </a:ext>
                </a:extLst>
              </a:tr>
              <a:tr h="296462">
                <a:tc>
                  <a:txBody>
                    <a:bodyPr/>
                    <a:lstStyle/>
                    <a:p>
                      <a:r>
                        <a:rPr lang="ru-RU" sz="1600"/>
                        <a:t>Динамический </a:t>
                      </a:r>
                      <a:r>
                        <a:rPr lang="en-US" sz="1600"/>
                        <a:t>Rate Limiting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Нет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Да</a:t>
                      </a:r>
                      <a:endParaRPr lang="ru-RU" sz="160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9741136"/>
                  </a:ext>
                </a:extLst>
              </a:tr>
              <a:tr h="173788">
                <a:tc>
                  <a:txBody>
                    <a:bodyPr/>
                    <a:lstStyle/>
                    <a:p>
                      <a:r>
                        <a:rPr lang="ru-RU" sz="1600"/>
                        <a:t>Потребление ресурсов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Высокое (</a:t>
                      </a:r>
                      <a:r>
                        <a:rPr lang="en-US" sz="1600"/>
                        <a:t>JVM)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Высокое (</a:t>
                      </a:r>
                      <a:r>
                        <a:rPr lang="en-US" sz="1600"/>
                        <a:t>JVM)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Высокое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Низкое</a:t>
                      </a:r>
                      <a:endParaRPr lang="ru-RU" sz="160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34642467"/>
                  </a:ext>
                </a:extLst>
              </a:tr>
              <a:tr h="451845">
                <a:tc>
                  <a:txBody>
                    <a:bodyPr/>
                    <a:lstStyle/>
                    <a:p>
                      <a:r>
                        <a:rPr lang="ru-RU" sz="1600"/>
                        <a:t>Совместимость с </a:t>
                      </a:r>
                      <a:r>
                        <a:rPr lang="en-US" sz="1600"/>
                        <a:t>Astra Linux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Частично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Частично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Частично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Да</a:t>
                      </a:r>
                      <a:endParaRPr lang="ru-RU" sz="16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3600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90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336DC11-6039-E2E6-AD68-0E377D16C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73065"/>
            <a:ext cx="7560404" cy="5060464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5" y="536629"/>
            <a:ext cx="10282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Архитектура и технологический стек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183D14-AFAE-7A8F-C3EA-489652D8C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222" y="2355405"/>
            <a:ext cx="941542" cy="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dis SVG and transparent PNG icons | TechIcons">
            <a:extLst>
              <a:ext uri="{FF2B5EF4-FFF2-40B4-BE49-F238E27FC236}">
                <a16:creationId xmlns:a16="http://schemas.microsoft.com/office/drawing/2014/main" id="{AB39A782-0B95-12FE-464E-021B27DCE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634" y="1856558"/>
            <a:ext cx="1125127" cy="112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astAPI — UberLab 7 documentation">
            <a:extLst>
              <a:ext uri="{FF2B5EF4-FFF2-40B4-BE49-F238E27FC236}">
                <a16:creationId xmlns:a16="http://schemas.microsoft.com/office/drawing/2014/main" id="{3FBB3363-EB8D-ACF5-A5D1-FAC152C14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259" y="1258790"/>
            <a:ext cx="2367897" cy="85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ML - Wikipedia">
            <a:extLst>
              <a:ext uri="{FF2B5EF4-FFF2-40B4-BE49-F238E27FC236}">
                <a16:creationId xmlns:a16="http://schemas.microsoft.com/office/drawing/2014/main" id="{9C3207DC-53C6-F54E-9B33-231CAE29C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273" y="3750673"/>
            <a:ext cx="962492" cy="9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inja2 - secure and fast Python template engine — Quintagroup">
            <a:extLst>
              <a:ext uri="{FF2B5EF4-FFF2-40B4-BE49-F238E27FC236}">
                <a16:creationId xmlns:a16="http://schemas.microsoft.com/office/drawing/2014/main" id="{399D4E95-BAC4-0255-C7C9-E090FD491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434" y="3876316"/>
            <a:ext cx="1273509" cy="127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Российская операционная система Astra Linux, официальная русская ОС">
            <a:extLst>
              <a:ext uri="{FF2B5EF4-FFF2-40B4-BE49-F238E27FC236}">
                <a16:creationId xmlns:a16="http://schemas.microsoft.com/office/drawing/2014/main" id="{FB2D7E23-B26E-5CC3-9B08-340F09D2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125" y="5166892"/>
            <a:ext cx="2575647" cy="97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10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9152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Структуры данных</a:t>
            </a:r>
          </a:p>
        </p:txBody>
      </p:sp>
      <p:pic>
        <p:nvPicPr>
          <p:cNvPr id="8" name="Рисунок 7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97ABA3-4301-9AF9-6B01-C31A20F5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126" y="1534238"/>
            <a:ext cx="6198469" cy="4518969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76625936-398F-5383-1D69-99BCCFC1F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077903"/>
              </p:ext>
            </p:extLst>
          </p:nvPr>
        </p:nvGraphicFramePr>
        <p:xfrm>
          <a:off x="201584" y="1071868"/>
          <a:ext cx="5331708" cy="48944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275893">
                  <a:extLst>
                    <a:ext uri="{9D8B030D-6E8A-4147-A177-3AD203B41FA5}">
                      <a16:colId xmlns:a16="http://schemas.microsoft.com/office/drawing/2014/main" val="371885460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22733606"/>
                    </a:ext>
                  </a:extLst>
                </a:gridCol>
                <a:gridCol w="2344615">
                  <a:extLst>
                    <a:ext uri="{9D8B030D-6E8A-4147-A177-3AD203B41FA5}">
                      <a16:colId xmlns:a16="http://schemas.microsoft.com/office/drawing/2014/main" val="4218300197"/>
                    </a:ext>
                  </a:extLst>
                </a:gridCol>
              </a:tblGrid>
              <a:tr h="25895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Ключ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Тип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Назначение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735483"/>
                  </a:ext>
                </a:extLst>
              </a:tr>
              <a:tr h="63665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mocks:{filename}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Конфигурация и состояние заглушки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3053325"/>
                  </a:ext>
                </a:extLst>
              </a:tr>
              <a:tr h="63665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mocks:registry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Множество имён файлов всех заглушек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6743543"/>
                  </a:ext>
                </a:extLst>
              </a:tr>
              <a:tr h="510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hosts:{hostname}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Конфигурация целевого хоста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4895230"/>
                  </a:ext>
                </a:extLst>
              </a:tr>
              <a:tr h="63665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hosts:registry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Множество </a:t>
                      </a:r>
                      <a:r>
                        <a:rPr lang="en-US" sz="1200" u="none" strike="noStrike" dirty="0">
                          <a:effectLst/>
                        </a:rPr>
                        <a:t>hostname </a:t>
                      </a:r>
                      <a:r>
                        <a:rPr lang="ru-RU" sz="1200" u="none" strike="noStrike" dirty="0">
                          <a:effectLst/>
                        </a:rPr>
                        <a:t>всех хостов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1967908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accounts:{uuid}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Учётная запись </a:t>
                      </a:r>
                      <a:r>
                        <a:rPr lang="en-US" sz="1200" u="none" strike="noStrike" dirty="0">
                          <a:effectLst/>
                        </a:rPr>
                        <a:t>SSH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6145835"/>
                  </a:ext>
                </a:extLst>
              </a:tr>
              <a:tr h="510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accounts:registry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Множество </a:t>
                      </a:r>
                      <a:r>
                        <a:rPr lang="en-US" sz="1200" u="none" strike="noStrike" dirty="0">
                          <a:effectLst/>
                        </a:rPr>
                        <a:t>UUID </a:t>
                      </a:r>
                      <a:r>
                        <a:rPr lang="ru-RU" sz="1200" u="none" strike="noStrike" dirty="0">
                          <a:effectLst/>
                        </a:rPr>
                        <a:t>учётных записей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7430999"/>
                  </a:ext>
                </a:extLst>
              </a:tr>
              <a:tr h="5107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rate:{filename}:{window}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String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Счётчик</a:t>
                      </a:r>
                      <a:r>
                        <a:rPr lang="en-US" sz="1200" u="none" strike="noStrike" dirty="0">
                          <a:effectLst/>
                        </a:rPr>
                        <a:t> Rate Limiter (с TTL)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2347782"/>
                  </a:ext>
                </a:extLst>
              </a:tr>
              <a:tr h="762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settings:global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Глобальные параметры приложения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2181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2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7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Топология развёртывания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457199" y="1466723"/>
            <a:ext cx="4001247" cy="375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/>
              <a:t>Система поддерживает два режима без изменения кодовой базы: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1600" b="1" dirty="0"/>
              <a:t>Cluster Mode</a:t>
            </a:r>
            <a:r>
              <a:rPr lang="ru-RU" sz="1600" dirty="0"/>
              <a:t>: один управляющий узел координирует несколько удалённых хостов через SSH/SFTP;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1600" b="1" dirty="0" err="1"/>
              <a:t>Standalone</a:t>
            </a:r>
            <a:r>
              <a:rPr lang="ru-RU" sz="1600" b="1" dirty="0"/>
              <a:t> Mode</a:t>
            </a:r>
            <a:r>
              <a:rPr lang="ru-RU" sz="1600" dirty="0"/>
              <a:t>: все компоненты на одном сервере</a:t>
            </a:r>
            <a:br>
              <a:rPr lang="ru-RU" sz="1600" dirty="0"/>
            </a:br>
            <a:r>
              <a:rPr lang="ru-RU" sz="1600" dirty="0"/>
              <a:t>На целевых хостах не требуется установка агентов — только SSH-сервер и </a:t>
            </a:r>
            <a:r>
              <a:rPr lang="ru-RU" sz="1600" dirty="0" err="1"/>
              <a:t>OpenJDK</a:t>
            </a:r>
            <a:r>
              <a:rPr lang="ru-RU" sz="1600" dirty="0"/>
              <a:t> 17.</a:t>
            </a:r>
          </a:p>
        </p:txBody>
      </p:sp>
      <p:pic>
        <p:nvPicPr>
          <p:cNvPr id="5" name="Рисунок 4" descr="Изображение выглядит как текст, снимок экрана, Шрифт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FF6725E-7A65-7549-CB3D-7730642851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137" y="1212568"/>
            <a:ext cx="7231664" cy="496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5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8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err="1">
                <a:latin typeface="Gilroy Bold" panose="00000800000000000000" pitchFamily="2" charset="-52"/>
                <a:ea typeface="+mj-ea"/>
                <a:cs typeface="+mj-cs"/>
              </a:rPr>
              <a:t>Проксирование</a:t>
            </a:r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 и Rate </a:t>
            </a:r>
            <a:r>
              <a:rPr lang="ru-RU" sz="3200" dirty="0" err="1">
                <a:latin typeface="Gilroy Bold" panose="00000800000000000000" pitchFamily="2" charset="-52"/>
                <a:ea typeface="+mj-ea"/>
                <a:cs typeface="+mj-cs"/>
              </a:rPr>
              <a:t>Limiting</a:t>
            </a:r>
            <a:endParaRPr lang="ru-RU" sz="3200" dirty="0">
              <a:latin typeface="Gilroy Bold" panose="00000800000000000000" pitchFamily="2" charset="-52"/>
              <a:ea typeface="+mj-ea"/>
              <a:cs typeface="+mj-cs"/>
            </a:endParaRPr>
          </a:p>
        </p:txBody>
      </p:sp>
      <p:pic>
        <p:nvPicPr>
          <p:cNvPr id="10" name="Рисунок 9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D5AC783-F67F-FDD4-576E-ACC0063AD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144" y="1024064"/>
            <a:ext cx="3815968" cy="529668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Граф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4D3A63-67A0-38E0-F789-B8AE9C308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" t="1189" r="23539" b="1623"/>
          <a:stretch/>
        </p:blipFill>
        <p:spPr>
          <a:xfrm>
            <a:off x="457200" y="1234954"/>
            <a:ext cx="5990688" cy="4159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7C64A-7E39-680D-0736-BFA86D18260D}"/>
              </a:ext>
            </a:extLst>
          </p:cNvPr>
          <p:cNvSpPr txBox="1"/>
          <p:nvPr/>
        </p:nvSpPr>
        <p:spPr>
          <a:xfrm>
            <a:off x="3113348" y="5369002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Время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03B05-77AB-44C2-B157-13C9DB2919FF}"/>
              </a:ext>
            </a:extLst>
          </p:cNvPr>
          <p:cNvSpPr txBox="1"/>
          <p:nvPr/>
        </p:nvSpPr>
        <p:spPr>
          <a:xfrm>
            <a:off x="155089" y="2191381"/>
            <a:ext cx="369332" cy="25625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ru-RU" sz="1200" dirty="0"/>
              <a:t>Интенсивность запросов (</a:t>
            </a:r>
            <a:r>
              <a:rPr lang="en-US" sz="1200" dirty="0"/>
              <a:t>RPS</a:t>
            </a:r>
            <a:r>
              <a:rPr lang="ru-RU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339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9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Управление жизненным циклом</a:t>
            </a:r>
          </a:p>
        </p:txBody>
      </p:sp>
      <p:pic>
        <p:nvPicPr>
          <p:cNvPr id="4" name="Рисунок 3" descr="Изображение выглядит как текст, диаграмма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A0CBAD-5AC8-3BE7-31EC-E2ABAB338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488" y="1206979"/>
            <a:ext cx="56292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22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19435" y="6171414"/>
            <a:ext cx="670981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10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Веб-интерфейс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CA95D3-A3D5-12BC-47DC-7F8B40BF8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43" y="1384300"/>
            <a:ext cx="7324973" cy="47255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23D4B4-8109-651F-C3BF-646169597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58" y="1384300"/>
            <a:ext cx="3478692" cy="472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2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44941" y="6171414"/>
            <a:ext cx="545475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11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Функциональное тестирование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4333BB9-A0A9-AF68-A54E-4D37143EC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37228"/>
              </p:ext>
            </p:extLst>
          </p:nvPr>
        </p:nvGraphicFramePr>
        <p:xfrm>
          <a:off x="914400" y="1659284"/>
          <a:ext cx="10282239" cy="35511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20904">
                  <a:extLst>
                    <a:ext uri="{9D8B030D-6E8A-4147-A177-3AD203B41FA5}">
                      <a16:colId xmlns:a16="http://schemas.microsoft.com/office/drawing/2014/main" val="1472585013"/>
                    </a:ext>
                  </a:extLst>
                </a:gridCol>
                <a:gridCol w="1719618">
                  <a:extLst>
                    <a:ext uri="{9D8B030D-6E8A-4147-A177-3AD203B41FA5}">
                      <a16:colId xmlns:a16="http://schemas.microsoft.com/office/drawing/2014/main" val="3833472201"/>
                    </a:ext>
                  </a:extLst>
                </a:gridCol>
                <a:gridCol w="3941717">
                  <a:extLst>
                    <a:ext uri="{9D8B030D-6E8A-4147-A177-3AD203B41FA5}">
                      <a16:colId xmlns:a16="http://schemas.microsoft.com/office/drawing/2014/main" val="2534909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Сценарий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Успешность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259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/>
                        <a:t>Перезапуск при работающих процессах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Статусы </a:t>
                      </a:r>
                      <a:r>
                        <a:rPr lang="en-US" sz="1600" dirty="0"/>
                        <a:t>RUNNING </a:t>
                      </a:r>
                      <a:r>
                        <a:rPr lang="ru-RU" sz="1600" dirty="0"/>
                        <a:t>сохранены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619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Перезапуск при завершённых процессах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Автоматический перезапуск </a:t>
                      </a:r>
                      <a:r>
                        <a:rPr lang="en-US" sz="1600" dirty="0"/>
                        <a:t>mock</a:t>
                      </a:r>
                      <a:r>
                        <a:rPr lang="ru-RU" sz="1600" dirty="0"/>
                        <a:t>-сервисов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414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Восстановление после аварии </a:t>
                      </a:r>
                      <a:r>
                        <a:rPr lang="en-US" sz="1600" dirty="0"/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Данные восстановлены из </a:t>
                      </a:r>
                      <a:r>
                        <a:rPr lang="en-US" sz="1600" dirty="0"/>
                        <a:t>AOF-</a:t>
                      </a:r>
                      <a:r>
                        <a:rPr lang="ru-RU" sz="1600" dirty="0"/>
                        <a:t>журнала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646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Обнаружение сбоя планировщиком </a:t>
                      </a:r>
                      <a:r>
                        <a:rPr lang="en-US" sz="1600" dirty="0" err="1"/>
                        <a:t>HealthChecker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Статус ERROR за ≤ 30 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4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 err="1"/>
                        <a:t>Автовозврат</a:t>
                      </a:r>
                      <a:r>
                        <a:rPr lang="ru-RU" sz="1600" dirty="0"/>
                        <a:t> из ERROR в 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dirty="0"/>
                        <a:t>Статус RUNNING за ≤ 30 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12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33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97129" y="6171414"/>
            <a:ext cx="593287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>
                <a:latin typeface="Gilroy Bold" panose="00000800000000000000" pitchFamily="2" charset="-52"/>
                <a:ea typeface="+mj-ea"/>
                <a:cs typeface="+mj-cs"/>
              </a:rPr>
              <a:t>Нагрузочное тестирование</a:t>
            </a:r>
            <a:endParaRPr lang="ru-RU" sz="3200" dirty="0">
              <a:latin typeface="Gilroy Bold" panose="00000800000000000000" pitchFamily="2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409377" y="1079764"/>
            <a:ext cx="10729120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/>
              <a:t>Инструмент: k6. Наблюдение через </a:t>
            </a:r>
            <a:r>
              <a:rPr lang="ru-RU" sz="1600" dirty="0" err="1"/>
              <a:t>эндпоинт</a:t>
            </a:r>
            <a:r>
              <a:rPr lang="ru-RU" sz="1600" dirty="0"/>
              <a:t> /</a:t>
            </a:r>
            <a:r>
              <a:rPr lang="ru-RU" sz="1600" dirty="0" err="1"/>
              <a:t>metrics</a:t>
            </a:r>
            <a:r>
              <a:rPr lang="ru-RU" sz="1600" dirty="0"/>
              <a:t> (</a:t>
            </a:r>
            <a:r>
              <a:rPr lang="ru-RU" sz="1600" dirty="0" err="1"/>
              <a:t>Prometheus</a:t>
            </a:r>
            <a:r>
              <a:rPr lang="ru-RU" sz="1600" dirty="0"/>
              <a:t>).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E7AA6F9-7395-8004-5D71-C8FCE9E1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06167"/>
              </p:ext>
            </p:extLst>
          </p:nvPr>
        </p:nvGraphicFramePr>
        <p:xfrm>
          <a:off x="271929" y="2583462"/>
          <a:ext cx="4897718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8604">
                  <a:extLst>
                    <a:ext uri="{9D8B030D-6E8A-4147-A177-3AD203B41FA5}">
                      <a16:colId xmlns:a16="http://schemas.microsoft.com/office/drawing/2014/main" val="4246277828"/>
                    </a:ext>
                  </a:extLst>
                </a:gridCol>
                <a:gridCol w="1399013">
                  <a:extLst>
                    <a:ext uri="{9D8B030D-6E8A-4147-A177-3AD203B41FA5}">
                      <a16:colId xmlns:a16="http://schemas.microsoft.com/office/drawing/2014/main" val="3350268425"/>
                    </a:ext>
                  </a:extLst>
                </a:gridCol>
                <a:gridCol w="1430101">
                  <a:extLst>
                    <a:ext uri="{9D8B030D-6E8A-4147-A177-3AD203B41FA5}">
                      <a16:colId xmlns:a16="http://schemas.microsoft.com/office/drawing/2014/main" val="3905350028"/>
                    </a:ext>
                  </a:extLst>
                </a:gridCol>
              </a:tblGrid>
              <a:tr h="1474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Сценарий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/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529245"/>
                  </a:ext>
                </a:extLst>
              </a:tr>
              <a:tr h="3072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Базовая нагрузка </a:t>
                      </a:r>
                      <a:br>
                        <a:rPr lang="en-US" sz="1200" dirty="0"/>
                      </a:br>
                      <a:r>
                        <a:rPr lang="ru-RU" sz="1200" dirty="0"/>
                        <a:t>(10 </a:t>
                      </a:r>
                      <a:r>
                        <a:rPr lang="en-US" sz="1200" dirty="0"/>
                        <a:t>RPS)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 err="1"/>
                        <a:t>proxy_total_ms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3,90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834927"/>
                  </a:ext>
                </a:extLst>
              </a:tr>
              <a:tr h="379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Нарастающая нагрузка (500 </a:t>
                      </a:r>
                      <a:r>
                        <a:rPr lang="en-US" sz="1200" dirty="0"/>
                        <a:t>RPS)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 err="1"/>
                        <a:t>proxy_total_ms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/>
                        <a:t>3,01 мс — линейный рост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857546"/>
                  </a:ext>
                </a:extLst>
              </a:tr>
              <a:tr h="379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/>
                        <a:t>Нарастающая нагрузка (1000 </a:t>
                      </a:r>
                      <a:r>
                        <a:rPr lang="en-US" sz="1200"/>
                        <a:t>RPS)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 err="1"/>
                        <a:t>proxy_total_ms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10,52 мс — без отказов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051413"/>
                  </a:ext>
                </a:extLst>
              </a:tr>
              <a:tr h="379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/>
                        <a:t>Rate Limiting (</a:t>
                      </a:r>
                      <a:r>
                        <a:rPr lang="ru-RU" sz="1200"/>
                        <a:t>лимит 250, нагрузка 500 </a:t>
                      </a:r>
                      <a:r>
                        <a:rPr lang="en-US" sz="1200"/>
                        <a:t>RPS)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dirty="0"/>
                        <a:t>Точность лимита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200" b="1" dirty="0"/>
                        <a:t>99,87%</a:t>
                      </a:r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924372"/>
                  </a:ext>
                </a:extLst>
              </a:tr>
            </a:tbl>
          </a:graphicData>
        </a:graphic>
      </p:graphicFrame>
      <p:pic>
        <p:nvPicPr>
          <p:cNvPr id="8" name="Рисунок 7" descr="Изображение выглядит как текст, снимок экрана, График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BC9D771-3416-C5EC-0613-B2FF6FA0D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" t="953" b="715"/>
          <a:stretch/>
        </p:blipFill>
        <p:spPr>
          <a:xfrm>
            <a:off x="5583742" y="1659284"/>
            <a:ext cx="6406674" cy="3904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D50BE-90CC-0FFA-3F53-15624E28731A}"/>
              </a:ext>
            </a:extLst>
          </p:cNvPr>
          <p:cNvSpPr txBox="1"/>
          <p:nvPr/>
        </p:nvSpPr>
        <p:spPr>
          <a:xfrm>
            <a:off x="8434467" y="5563428"/>
            <a:ext cx="705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Время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7BD0D-9BD5-7EB3-3494-19AA801A7BE0}"/>
              </a:ext>
            </a:extLst>
          </p:cNvPr>
          <p:cNvSpPr txBox="1"/>
          <p:nvPr/>
        </p:nvSpPr>
        <p:spPr>
          <a:xfrm>
            <a:off x="5307106" y="2462306"/>
            <a:ext cx="369332" cy="1909713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r>
              <a:rPr lang="ru-RU" sz="1200" dirty="0"/>
              <a:t>Время обработки (мс)</a:t>
            </a:r>
          </a:p>
        </p:txBody>
      </p:sp>
    </p:spTree>
    <p:extLst>
      <p:ext uri="{BB962C8B-B14F-4D97-AF65-F5344CB8AC3E}">
        <p14:creationId xmlns:p14="http://schemas.microsoft.com/office/powerpoint/2010/main" val="344982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1DFAB9-32B0-2055-0400-CAC0B722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13</a:t>
            </a:fld>
            <a:endParaRPr lang="ru-RU" dirty="0"/>
          </a:p>
        </p:txBody>
      </p:sp>
      <p:pic>
        <p:nvPicPr>
          <p:cNvPr id="4" name="video">
            <a:hlinkClick r:id="" action="ppaction://media"/>
            <a:extLst>
              <a:ext uri="{FF2B5EF4-FFF2-40B4-BE49-F238E27FC236}">
                <a16:creationId xmlns:a16="http://schemas.microsoft.com/office/drawing/2014/main" id="{176E46DC-C96C-1B1E-1B7E-EC57D2CB2E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1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97129" y="6171414"/>
            <a:ext cx="593287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14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5" y="6178253"/>
            <a:ext cx="10798742" cy="69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МЕДВЕДЕВ КЛИМ НИКОЛАЕВИЧ, 221-329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04.06.2026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СИСТЕМЫ ДЛЯ ПРОКСИРОВАНИЯ И МОНИТОРИНГА ИМИТАЦИОННЫХ СЕРВИСОВ В СРЕДЕ НАГРУЗОЧНОГО ТЕСТИРОВАНИЯ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537255"/>
            <a:ext cx="6645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Результаты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6AEEB-6479-6AF6-ED4B-A834C62D6DE6}"/>
              </a:ext>
            </a:extLst>
          </p:cNvPr>
          <p:cNvSpPr txBox="1"/>
          <p:nvPr/>
        </p:nvSpPr>
        <p:spPr>
          <a:xfrm>
            <a:off x="349527" y="1405284"/>
            <a:ext cx="11344245" cy="460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Все 6 задач выполнены в полном объёме. </a:t>
            </a:r>
          </a:p>
          <a:p>
            <a:pPr>
              <a:lnSpc>
                <a:spcPct val="150000"/>
              </a:lnSpc>
            </a:pPr>
            <a:r>
              <a:rPr lang="ru-RU" dirty="0"/>
              <a:t>Разработан программный комплекс, не имеющий прямых аналогов среди существующих решений.</a:t>
            </a:r>
          </a:p>
          <a:p>
            <a:pPr>
              <a:lnSpc>
                <a:spcPct val="150000"/>
              </a:lnSpc>
            </a:pPr>
            <a:r>
              <a:rPr lang="ru-RU" dirty="0"/>
              <a:t>Ключевые характеристики: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Задержка прокси: ≤ 3,01 мс;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Точность Rate </a:t>
            </a:r>
            <a:r>
              <a:rPr lang="ru-RU" dirty="0" err="1"/>
              <a:t>Limiting</a:t>
            </a:r>
            <a:r>
              <a:rPr lang="ru-RU" dirty="0"/>
              <a:t>: 99,87% от теоретического лимита;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Время обнаружения сбоя: ≤ 30 с;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Впервые реализовано централизованное управление с индивидуальным Rate </a:t>
            </a:r>
            <a:r>
              <a:rPr lang="ru-RU" dirty="0" err="1"/>
              <a:t>Limiting</a:t>
            </a:r>
            <a:r>
              <a:rPr lang="ru-RU" dirty="0"/>
              <a:t> и </a:t>
            </a:r>
            <a:r>
              <a:rPr lang="ru-RU" dirty="0" err="1"/>
              <a:t>агентно</a:t>
            </a:r>
            <a:r>
              <a:rPr lang="ru-RU" dirty="0"/>
              <a:t>-независимым SSH/SCP-взаимодействием без ПО на целевых узлах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Направления развития: динамическая маршрутизация по содержимому запроса, ролевая модель доступа, поддержка не-JVM артефактов;</a:t>
            </a:r>
          </a:p>
        </p:txBody>
      </p:sp>
    </p:spTree>
    <p:extLst>
      <p:ext uri="{BB962C8B-B14F-4D97-AF65-F5344CB8AC3E}">
        <p14:creationId xmlns:p14="http://schemas.microsoft.com/office/powerpoint/2010/main" val="1950367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537880" y="723037"/>
            <a:ext cx="7654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Спасибо за внимание!</a:t>
            </a:r>
            <a:endParaRPr lang="ru-RU" sz="28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СИСТЕМЫ ДЛЯ ПРОКСИРОВАНИЯ 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МОНИТОРИНГА ИМИТАЦИОННЫХ СЕРВИСОВ В СРЕДЕ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НАГРУЗОЧНОГО ТЕСТИРОВАНИЯ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7373922" y="4597930"/>
            <a:ext cx="42217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Медведев Клим Николаевич,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группа 221-329.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Научный руководитель: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Gilroy Medium" panose="00000600000000000000" charset="-52"/>
              </a:rPr>
              <a:t>Кружалов</a:t>
            </a:r>
            <a:r>
              <a:rPr lang="ru-RU" sz="1800" dirty="0">
                <a:latin typeface="Gilroy Medium" panose="00000600000000000000" charset="-52"/>
              </a:rPr>
              <a:t> Алексей Сергеевич,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</a:t>
            </a:r>
            <a:r>
              <a:rPr lang="ru-RU" sz="1800" dirty="0">
                <a:latin typeface="Gilroy Medium" panose="00000600000000000000" charset="-52"/>
              </a:rPr>
              <a:t>тарший преп</a:t>
            </a:r>
            <a:r>
              <a:rPr lang="ru-RU" dirty="0">
                <a:latin typeface="Gilroy Medium" panose="00000600000000000000" charset="-52"/>
              </a:rPr>
              <a:t>одаватель.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Москва, 4 июня 2026</a:t>
            </a:r>
          </a:p>
        </p:txBody>
      </p:sp>
    </p:spTree>
    <p:extLst>
      <p:ext uri="{BB962C8B-B14F-4D97-AF65-F5344CB8AC3E}">
        <p14:creationId xmlns:p14="http://schemas.microsoft.com/office/powerpoint/2010/main" val="3176117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1210</TotalTime>
  <Words>938</Words>
  <Application>Microsoft Office PowerPoint</Application>
  <PresentationFormat>Широкоэкранный</PresentationFormat>
  <Paragraphs>211</Paragraphs>
  <Slides>15</Slides>
  <Notes>14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Verdana</vt:lpstr>
      <vt:lpstr>Aptos Narrow</vt:lpstr>
      <vt:lpstr>Arial</vt:lpstr>
      <vt:lpstr>Calibri</vt:lpstr>
      <vt:lpstr>Gilroy Bold</vt:lpstr>
      <vt:lpstr>Gilroy Medium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Клим Медведев</cp:lastModifiedBy>
  <cp:revision>53</cp:revision>
  <dcterms:created xsi:type="dcterms:W3CDTF">2024-05-27T20:04:35Z</dcterms:created>
  <dcterms:modified xsi:type="dcterms:W3CDTF">2026-06-03T13:58:47Z</dcterms:modified>
</cp:coreProperties>
</file>
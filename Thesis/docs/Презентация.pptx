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>
  <p:sldMasterIdLst>
    <p:sldMasterId id="2147483896" r:id="rId1"/>
  </p:sldMasterIdLst>
  <p:notesMasterIdLst>
    <p:notesMasterId r:id="rId16"/>
  </p:notesMasterIdLst>
  <p:sldIdLst>
    <p:sldId id="256" r:id="rId2"/>
    <p:sldId id="274" r:id="rId3"/>
    <p:sldId id="272" r:id="rId4"/>
    <p:sldId id="273" r:id="rId5"/>
    <p:sldId id="275" r:id="rId6"/>
    <p:sldId id="276" r:id="rId7"/>
    <p:sldId id="284" r:id="rId8"/>
    <p:sldId id="277" r:id="rId9"/>
    <p:sldId id="278" r:id="rId10"/>
    <p:sldId id="279" r:id="rId11"/>
    <p:sldId id="280" r:id="rId12"/>
    <p:sldId id="281" r:id="rId13"/>
    <p:sldId id="282" r:id="rId14"/>
    <p:sldId id="283" r:id="rId15"/>
  </p:sldIdLst>
  <p:sldSz cx="12192000" cy="6858000"/>
  <p:notesSz cx="6858000" cy="9144000"/>
  <p:embeddedFontLst>
    <p:embeddedFont>
      <p:font typeface="Consolas" panose="020B0609020204030204" pitchFamily="49" charset="0"/>
      <p:regular r:id="rId17"/>
      <p:bold r:id="rId18"/>
      <p:italic r:id="rId19"/>
      <p:boldItalic r:id="rId20"/>
    </p:embeddedFont>
    <p:embeddedFont>
      <p:font typeface="Gilroy Bold" panose="00000800000000000000" pitchFamily="50" charset="-52"/>
      <p:bold r:id="rId21"/>
    </p:embeddedFont>
    <p:embeddedFont>
      <p:font typeface="Gilroy Medium" panose="00000600000000000000" pitchFamily="50" charset="-52"/>
      <p:regular r:id="rId22"/>
    </p:embeddedFont>
    <p:embeddedFont>
      <p:font typeface="Verdana" panose="020B0604030504040204" pitchFamily="34" charset="0"/>
      <p:regular r:id="rId23"/>
      <p:bold r:id="rId24"/>
      <p:italic r:id="rId25"/>
      <p:boldItalic r:id="rId26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04" userDrawn="1">
          <p15:clr>
            <a:srgbClr val="A4A3A4"/>
          </p15:clr>
        </p15:guide>
        <p15:guide id="2" pos="386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16DA210-FB5B-4158-B5E0-FEB733F419BA}" styleName="Светлый стиль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60" d="100"/>
          <a:sy n="160" d="100"/>
        </p:scale>
        <p:origin x="270" y="114"/>
      </p:cViewPr>
      <p:guideLst>
        <p:guide orient="horz" pos="504"/>
        <p:guide pos="3863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7" d="100"/>
          <a:sy n="87" d="100"/>
        </p:scale>
        <p:origin x="3840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font" Target="fonts/font10.fntdata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6B9DC91-30C7-46AB-ADDB-A80A0533D77A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B6BEC5-E5BF-4073-B59F-AF429BC8313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39451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785845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84820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436112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669813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310495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2512873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0786729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610604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602745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3910235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6306669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3825601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9699345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69376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039528" y="2001837"/>
            <a:ext cx="10087276" cy="1508125"/>
          </a:xfrm>
        </p:spPr>
        <p:txBody>
          <a:bodyPr anchor="b"/>
          <a:lstStyle>
            <a:lvl1pPr algn="l">
              <a:defRPr sz="60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039528" y="4129238"/>
            <a:ext cx="10087276" cy="1128562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7530" y="-100001"/>
            <a:ext cx="3006013" cy="2125974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6097" y="5654764"/>
            <a:ext cx="2860213" cy="1632459"/>
          </a:xfrm>
          <a:prstGeom prst="rect">
            <a:avLst/>
          </a:prstGeom>
        </p:spPr>
      </p:pic>
      <p:cxnSp>
        <p:nvCxnSpPr>
          <p:cNvPr id="12" name="Прямая соединительная линия 11"/>
          <p:cNvCxnSpPr/>
          <p:nvPr/>
        </p:nvCxnSpPr>
        <p:spPr>
          <a:xfrm>
            <a:off x="4555671" y="1224644"/>
            <a:ext cx="7740000" cy="0"/>
          </a:xfrm>
          <a:prstGeom prst="line">
            <a:avLst/>
          </a:prstGeom>
          <a:ln w="57150" cap="rnd">
            <a:round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8" name="Рисунок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7530" y="-100001"/>
            <a:ext cx="3006013" cy="2125974"/>
          </a:xfrm>
          <a:prstGeom prst="rect">
            <a:avLst/>
          </a:prstGeom>
        </p:spPr>
      </p:pic>
      <p:cxnSp>
        <p:nvCxnSpPr>
          <p:cNvPr id="9" name="Прямая соединительная линия 8"/>
          <p:cNvCxnSpPr/>
          <p:nvPr userDrawn="1"/>
        </p:nvCxnSpPr>
        <p:spPr>
          <a:xfrm>
            <a:off x="4555671" y="1224644"/>
            <a:ext cx="7740000" cy="0"/>
          </a:xfrm>
          <a:prstGeom prst="line">
            <a:avLst/>
          </a:prstGeom>
          <a:ln w="57150" cap="rnd">
            <a:round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9507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959430"/>
            <a:ext cx="10281557" cy="364943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2D3C23-8038-4008-B24E-40A94D79456D}" type="datetime1">
              <a:rPr lang="ru-RU" smtClean="0"/>
              <a:t>19.05.2026</a:t>
            </a:fld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10080171" y="5698671"/>
            <a:ext cx="1787979" cy="1047296"/>
          </a:xfrm>
        </p:spPr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73704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58779" y="1286227"/>
            <a:ext cx="10087276" cy="2159618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058779" y="4165953"/>
            <a:ext cx="10087276" cy="1445576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4242727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>
          <a:xfrm>
            <a:off x="9993084" y="5390016"/>
            <a:ext cx="1828800" cy="1331459"/>
          </a:xfrm>
        </p:spPr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252357" cy="4109811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3543300" cy="4109811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ADD92-CC98-4900-BE8A-2068547BBC1A}" type="datetime1">
              <a:rPr lang="ru-RU" smtClean="0"/>
              <a:t>19.05.2026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108003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992085"/>
            <a:ext cx="4205741" cy="512989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702379"/>
            <a:ext cx="4205741" cy="321672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5372100" y="1992085"/>
            <a:ext cx="4327071" cy="512989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5372100" y="2702379"/>
            <a:ext cx="4327071" cy="321672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38898-160C-4747-9301-0B5702FA49D8}" type="datetime1">
              <a:rPr lang="ru-RU" smtClean="0"/>
              <a:t>19.05.2026</a:t>
            </a:fld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8859383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536706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BB16F-DABE-4712-B47F-7722E1CB50FE}" type="datetime1">
              <a:rPr lang="ru-RU" smtClean="0"/>
              <a:t>19.05.2026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703277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EBEA22-9938-4273-8C60-D80B349E4BA9}" type="datetime1">
              <a:rPr lang="ru-RU" smtClean="0"/>
              <a:t>19.05.2026</a:t>
            </a:fld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117010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526721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66859" y="1281339"/>
            <a:ext cx="4898069" cy="458764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D790B-F35A-4C90-BC4A-BA7F77964CA4}" type="datetime1">
              <a:rPr lang="ru-RU" smtClean="0"/>
              <a:t>19.05.2026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697846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526721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1273629"/>
            <a:ext cx="5823902" cy="41120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32831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AEF080-AA0F-44FA-BA62-A56D8619F7E7}" type="datetime1">
              <a:rPr lang="ru-RU" smtClean="0"/>
              <a:t>19.05.2026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703074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Номер слайда 5" title="0"/>
          <p:cNvSpPr>
            <a:spLocks noGrp="1" noChangeAspect="1"/>
          </p:cNvSpPr>
          <p:nvPr>
            <p:ph type="sldNum" sz="quarter" idx="4"/>
          </p:nvPr>
        </p:nvSpPr>
        <p:spPr>
          <a:xfrm>
            <a:off x="10076358" y="5731329"/>
            <a:ext cx="1787978" cy="1071890"/>
          </a:xfrm>
          <a:prstGeom prst="rect">
            <a:avLst/>
          </a:prstGeom>
        </p:spPr>
        <p:txBody>
          <a:bodyPr vert="horz" wrap="square" lIns="91440" tIns="45720" rIns="91440" bIns="45720" rtlCol="0" anchor="ctr" anchorCtr="0">
            <a:noAutofit/>
          </a:bodyPr>
          <a:lstStyle>
            <a:lvl1pPr algn="l">
              <a:defRPr sz="9600" b="0" i="0" baseline="0">
                <a:solidFill>
                  <a:schemeClr val="bg2">
                    <a:lumMod val="90000"/>
                  </a:schemeClr>
                </a:solidFill>
                <a:latin typeface="Gilroy Medium" panose="00000600000000000000" pitchFamily="2" charset="-52"/>
              </a:defRPr>
            </a:lvl1pPr>
          </a:lstStyle>
          <a:p>
            <a:fld id="{A01BE76D-E181-4177-862E-40D97C82BFEB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959429"/>
            <a:ext cx="10281557" cy="3657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AB8CDF-4973-4195-91CA-18BA11F1D400}" type="datetime1">
              <a:rPr lang="ru-RU" smtClean="0"/>
              <a:t>19.05.2026</a:t>
            </a:fld>
            <a:endParaRPr lang="ru-RU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25768" y="200819"/>
            <a:ext cx="1489158" cy="1053193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555171"/>
            <a:ext cx="8877300" cy="11355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10260531" y="1094014"/>
            <a:ext cx="1980000" cy="0"/>
          </a:xfrm>
          <a:prstGeom prst="line">
            <a:avLst/>
          </a:prstGeom>
          <a:ln w="38100" cap="rnd">
            <a:round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" name="Прямая соединительная линия 10"/>
          <p:cNvCxnSpPr/>
          <p:nvPr userDrawn="1"/>
        </p:nvCxnSpPr>
        <p:spPr>
          <a:xfrm>
            <a:off x="10260531" y="1094014"/>
            <a:ext cx="1980000" cy="0"/>
          </a:xfrm>
          <a:prstGeom prst="line">
            <a:avLst/>
          </a:prstGeom>
          <a:ln w="38100" cap="rnd">
            <a:round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36672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7" r:id="rId1"/>
    <p:sldLayoutId id="2147483898" r:id="rId2"/>
    <p:sldLayoutId id="2147483899" r:id="rId3"/>
    <p:sldLayoutId id="2147483900" r:id="rId4"/>
    <p:sldLayoutId id="2147483901" r:id="rId5"/>
    <p:sldLayoutId id="2147483902" r:id="rId6"/>
    <p:sldLayoutId id="2147483903" r:id="rId7"/>
    <p:sldLayoutId id="2147483904" r:id="rId8"/>
    <p:sldLayoutId id="2147483905" r:id="rId9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Gilroy Bold" panose="00000800000000000000" pitchFamily="2" charset="-52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2"/>
          </a:solidFill>
          <a:latin typeface="Gilroy Medium" panose="00000600000000000000" pitchFamily="2" charset="-52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2"/>
          </a:solidFill>
          <a:latin typeface="Gilroy Medium" panose="00000600000000000000" pitchFamily="2" charset="-52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Gilroy Medium" panose="00000600000000000000" pitchFamily="2" charset="-52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Gilroy Medium" panose="00000600000000000000" pitchFamily="2" charset="-52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Gilroy Medium" panose="00000600000000000000" pitchFamily="2" charset="-52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Прямая соединительная линия 3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48D64222-1292-4A23-A829-4D7C56BB71FE}"/>
              </a:ext>
            </a:extLst>
          </p:cNvPr>
          <p:cNvSpPr txBox="1"/>
          <p:nvPr/>
        </p:nvSpPr>
        <p:spPr>
          <a:xfrm>
            <a:off x="4067954" y="723037"/>
            <a:ext cx="812404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ru-RU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  <a:ea typeface="+mj-ea"/>
                <a:cs typeface="+mj-cs"/>
              </a:rPr>
              <a:t>ВЫПУСКНАЯ КВАЛИФИКАЦИОННАЯ РАБОТА</a:t>
            </a:r>
          </a:p>
          <a:p>
            <a:pPr algn="ctr"/>
            <a:endParaRPr kumimoji="0" lang="ru-RU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  <a:ea typeface="+mj-ea"/>
              <a:cs typeface="+mj-cs"/>
            </a:endParaRPr>
          </a:p>
          <a:p>
            <a:pPr algn="ctr"/>
            <a:r>
              <a:rPr kumimoji="0" lang="ru-RU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  <a:ea typeface="+mj-ea"/>
                <a:cs typeface="+mj-cs"/>
              </a:rPr>
              <a:t> </a:t>
            </a:r>
            <a:r>
              <a:rPr lang="ru-RU" dirty="0">
                <a:latin typeface="Gilroy Medium" panose="00000600000000000000" charset="-52"/>
              </a:rPr>
              <a:t>по направлению 09.03.01 Информатика и вычислительная техника</a:t>
            </a:r>
          </a:p>
          <a:p>
            <a:pPr algn="ctr"/>
            <a:r>
              <a:rPr lang="ru-RU" dirty="0">
                <a:latin typeface="Gilroy Medium" panose="00000600000000000000" charset="-52"/>
              </a:rPr>
              <a:t>Образовательная программа (профиль) «Системная и программная инженерия»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AAA36A-0422-46F0-BA3A-4B2EF754C329}"/>
              </a:ext>
            </a:extLst>
          </p:cNvPr>
          <p:cNvSpPr txBox="1"/>
          <p:nvPr/>
        </p:nvSpPr>
        <p:spPr>
          <a:xfrm>
            <a:off x="76899" y="2951946"/>
            <a:ext cx="118872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Bold" panose="00000800000000000000" charset="-52"/>
                <a:ea typeface="+mn-ea"/>
                <a:cs typeface="+mn-cs"/>
              </a:rPr>
              <a:t>РАЗРАБОТКА СИСТЕМЫ ДЛЯ ПРОКСИРОВАНИЯ И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Bold" panose="00000800000000000000" charset="-52"/>
                <a:ea typeface="+mn-ea"/>
                <a:cs typeface="+mn-cs"/>
              </a:rPr>
              <a:t>МОНИТОРИНГА ИМИТАЦИОННЫХ СЕРВИСОВ В СРЕДЕ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Bold" panose="00000800000000000000" charset="-52"/>
                <a:ea typeface="+mn-ea"/>
                <a:cs typeface="+mn-cs"/>
              </a:rPr>
              <a:t>НАГРУЗОЧНОГО ТЕСТИРОВАНИЯ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218C808-D44B-4FFB-A9B8-91FA34E1C60F}"/>
              </a:ext>
            </a:extLst>
          </p:cNvPr>
          <p:cNvSpPr txBox="1"/>
          <p:nvPr/>
        </p:nvSpPr>
        <p:spPr>
          <a:xfrm>
            <a:off x="7373922" y="4597930"/>
            <a:ext cx="4221759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>
                <a:latin typeface="Gilroy Medium" panose="00000600000000000000" charset="-52"/>
              </a:rPr>
              <a:t>Студент: 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>
                <a:latin typeface="Gilroy Medium" panose="00000600000000000000" charset="-52"/>
              </a:rPr>
              <a:t>Медведев Клим Николаевич, 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>
                <a:latin typeface="Gilroy Medium" panose="00000600000000000000" charset="-52"/>
              </a:rPr>
              <a:t>группа 221-329. 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>
                <a:latin typeface="Gilroy Medium" panose="00000600000000000000" charset="-52"/>
              </a:rPr>
              <a:t>Научный руководитель: 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 err="1">
                <a:latin typeface="Gilroy Medium" panose="00000600000000000000" charset="-52"/>
              </a:rPr>
              <a:t>Кружалов</a:t>
            </a:r>
            <a:r>
              <a:rPr lang="ru-RU" sz="1800" dirty="0">
                <a:latin typeface="Gilroy Medium" panose="00000600000000000000" charset="-52"/>
              </a:rPr>
              <a:t> Алексей Сергеевич,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dirty="0">
                <a:latin typeface="Gilroy Medium" panose="00000600000000000000" charset="-52"/>
              </a:rPr>
              <a:t>с</a:t>
            </a:r>
            <a:r>
              <a:rPr lang="ru-RU" sz="1800" dirty="0">
                <a:latin typeface="Gilroy Medium" panose="00000600000000000000" charset="-52"/>
              </a:rPr>
              <a:t>тарший преп</a:t>
            </a:r>
            <a:r>
              <a:rPr lang="ru-RU" dirty="0">
                <a:latin typeface="Gilroy Medium" panose="00000600000000000000" charset="-52"/>
              </a:rPr>
              <a:t>одаватель.</a:t>
            </a:r>
            <a:endParaRPr lang="ru-RU" sz="1800" dirty="0">
              <a:solidFill>
                <a:schemeClr val="tx1"/>
              </a:solidFill>
              <a:latin typeface="Gilroy Medium" panose="00000600000000000000" charset="-52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FE4B5EE-80E5-44C9-B29C-37CD3F69DA42}"/>
              </a:ext>
            </a:extLst>
          </p:cNvPr>
          <p:cNvSpPr txBox="1"/>
          <p:nvPr/>
        </p:nvSpPr>
        <p:spPr>
          <a:xfrm>
            <a:off x="4782071" y="6353372"/>
            <a:ext cx="225034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Москва, 4 июня 2026</a:t>
            </a:r>
          </a:p>
        </p:txBody>
      </p:sp>
    </p:spTree>
    <p:extLst>
      <p:ext uri="{BB962C8B-B14F-4D97-AF65-F5344CB8AC3E}">
        <p14:creationId xmlns:p14="http://schemas.microsoft.com/office/powerpoint/2010/main" val="9164140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2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66456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Актуальность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A6AEEB-6479-6AF6-ED4B-A834C62D6DE6}"/>
              </a:ext>
            </a:extLst>
          </p:cNvPr>
          <p:cNvSpPr txBox="1"/>
          <p:nvPr/>
        </p:nvSpPr>
        <p:spPr>
          <a:xfrm>
            <a:off x="423877" y="2115050"/>
            <a:ext cx="11344245" cy="29972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1600" dirty="0"/>
              <a:t>При нагрузочном тестировании сложных систем требуются десятки имитационных сервисов (заглушек). Ручное управление ими — трудоёмко и ненадёжно.</a:t>
            </a:r>
          </a:p>
          <a:p>
            <a:pPr>
              <a:lnSpc>
                <a:spcPct val="150000"/>
              </a:lnSpc>
            </a:pPr>
            <a:r>
              <a:rPr lang="ru-RU" sz="1600" b="1" dirty="0"/>
              <a:t>Проблемы существующих решений:</a:t>
            </a:r>
            <a:r>
              <a:rPr lang="ru-RU" sz="1600" dirty="0"/>
              <a:t>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W</a:t>
            </a:r>
            <a:r>
              <a:rPr lang="ru-RU" sz="1600" dirty="0" err="1"/>
              <a:t>ireMock</a:t>
            </a:r>
            <a:r>
              <a:rPr lang="ru-RU" sz="1600" dirty="0"/>
              <a:t>, </a:t>
            </a:r>
            <a:r>
              <a:rPr lang="ru-RU" sz="1600" dirty="0" err="1"/>
              <a:t>MockServer</a:t>
            </a:r>
            <a:r>
              <a:rPr lang="ru-RU" sz="1600" dirty="0"/>
              <a:t>, </a:t>
            </a:r>
            <a:r>
              <a:rPr lang="ru-RU" sz="1600" dirty="0" err="1"/>
              <a:t>Mountebank</a:t>
            </a:r>
            <a:r>
              <a:rPr lang="ru-RU" sz="1600" dirty="0"/>
              <a:t> не управляют инфраструктурой JAR/WAR-процессов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600" dirty="0"/>
              <a:t>Apache </a:t>
            </a:r>
            <a:r>
              <a:rPr lang="ru-RU" sz="1600" dirty="0" err="1"/>
              <a:t>Tomcat</a:t>
            </a:r>
            <a:r>
              <a:rPr lang="ru-RU" sz="1600" dirty="0"/>
              <a:t> избыточен и не поддерживает динамический Rate </a:t>
            </a:r>
            <a:r>
              <a:rPr lang="ru-RU" sz="1600" dirty="0" err="1"/>
              <a:t>Limiting</a:t>
            </a:r>
            <a:r>
              <a:rPr lang="ru-RU" sz="1600" dirty="0"/>
              <a:t>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600" dirty="0"/>
              <a:t>Все зарубежные решения косвенно совместимы с ОС Astra Linux</a:t>
            </a:r>
          </a:p>
          <a:p>
            <a:pPr>
              <a:lnSpc>
                <a:spcPct val="150000"/>
              </a:lnSpc>
            </a:pPr>
            <a:r>
              <a:rPr lang="ru-RU" sz="1600" b="1" dirty="0"/>
              <a:t>Вывод:</a:t>
            </a:r>
            <a:r>
              <a:rPr lang="ru-RU" sz="1600" dirty="0"/>
              <a:t> ни одно из существующих решений не решает задачу централизованного управления распределённой инфраструктурой заглушек в условиях импортозамещения</a:t>
            </a:r>
          </a:p>
        </p:txBody>
      </p:sp>
    </p:spTree>
    <p:extLst>
      <p:ext uri="{BB962C8B-B14F-4D97-AF65-F5344CB8AC3E}">
        <p14:creationId xmlns:p14="http://schemas.microsoft.com/office/powerpoint/2010/main" val="5316697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3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66456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Цель и задачи</a:t>
            </a: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Gilroy Bold" panose="00000800000000000000" pitchFamily="2" charset="-52"/>
                <a:ea typeface="+mj-ea"/>
                <a:cs typeface="+mj-cs"/>
              </a:rPr>
              <a:t> работы</a:t>
            </a:r>
            <a:endParaRPr lang="ru-RU" sz="32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A6AEEB-6479-6AF6-ED4B-A834C62D6DE6}"/>
              </a:ext>
            </a:extLst>
          </p:cNvPr>
          <p:cNvSpPr txBox="1"/>
          <p:nvPr/>
        </p:nvSpPr>
        <p:spPr>
          <a:xfrm>
            <a:off x="423877" y="1339916"/>
            <a:ext cx="11344245" cy="4606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b="1" dirty="0"/>
              <a:t>Цель:</a:t>
            </a:r>
            <a:r>
              <a:rPr lang="ru-RU" dirty="0"/>
              <a:t> спроектировать и разработать автоматизированную информационную систему для централизованного управления имитационными сервисами в среде нагрузочного тестирования и мониторинга их состояния.</a:t>
            </a:r>
          </a:p>
          <a:p>
            <a:pPr>
              <a:lnSpc>
                <a:spcPct val="150000"/>
              </a:lnSpc>
            </a:pPr>
            <a:endParaRPr lang="ru-RU" dirty="0"/>
          </a:p>
          <a:p>
            <a:pPr>
              <a:lnSpc>
                <a:spcPct val="150000"/>
              </a:lnSpc>
            </a:pPr>
            <a:r>
              <a:rPr lang="ru-RU" b="1" dirty="0"/>
              <a:t>Задачи:</a:t>
            </a:r>
            <a:endParaRPr lang="ru-RU" dirty="0"/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ru-RU" dirty="0"/>
              <a:t>Провести анализ предметной области и существующих подходов</a:t>
            </a: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ru-RU" dirty="0"/>
              <a:t>Спроектировать архитектуру программного комплекса</a:t>
            </a: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ru-RU" dirty="0"/>
              <a:t>Обосновать выбор технологического стека</a:t>
            </a: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ru-RU" dirty="0"/>
              <a:t>Разработать алгоритмы </a:t>
            </a:r>
            <a:r>
              <a:rPr lang="ru-RU" dirty="0" err="1"/>
              <a:t>проксирования</a:t>
            </a:r>
            <a:r>
              <a:rPr lang="ru-RU" dirty="0"/>
              <a:t>, Rate </a:t>
            </a:r>
            <a:r>
              <a:rPr lang="ru-RU" dirty="0" err="1"/>
              <a:t>Limiting</a:t>
            </a:r>
            <a:r>
              <a:rPr lang="ru-RU" dirty="0"/>
              <a:t> и API управления</a:t>
            </a: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ru-RU" dirty="0"/>
              <a:t>Реализовать систему хранения конфигураций и контроля состояний</a:t>
            </a: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ru-RU" dirty="0"/>
              <a:t>Провести тестирование в среде ОС Astra Linux</a:t>
            </a:r>
          </a:p>
        </p:txBody>
      </p:sp>
    </p:spTree>
    <p:extLst>
      <p:ext uri="{BB962C8B-B14F-4D97-AF65-F5344CB8AC3E}">
        <p14:creationId xmlns:p14="http://schemas.microsoft.com/office/powerpoint/2010/main" val="4037818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4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413512"/>
            <a:ext cx="828914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Анализ аналогов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A6AEEB-6479-6AF6-ED4B-A834C62D6DE6}"/>
              </a:ext>
            </a:extLst>
          </p:cNvPr>
          <p:cNvSpPr txBox="1"/>
          <p:nvPr/>
        </p:nvSpPr>
        <p:spPr>
          <a:xfrm>
            <a:off x="497130" y="1564009"/>
            <a:ext cx="74349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Сравнительный анализ существующих решений</a:t>
            </a: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CB75CB1B-6AEB-C021-38CD-884737E096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9053544"/>
              </p:ext>
            </p:extLst>
          </p:nvPr>
        </p:nvGraphicFramePr>
        <p:xfrm>
          <a:off x="497130" y="2135036"/>
          <a:ext cx="11197740" cy="3158955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2239548">
                  <a:extLst>
                    <a:ext uri="{9D8B030D-6E8A-4147-A177-3AD203B41FA5}">
                      <a16:colId xmlns:a16="http://schemas.microsoft.com/office/drawing/2014/main" val="2215622627"/>
                    </a:ext>
                  </a:extLst>
                </a:gridCol>
                <a:gridCol w="2239548">
                  <a:extLst>
                    <a:ext uri="{9D8B030D-6E8A-4147-A177-3AD203B41FA5}">
                      <a16:colId xmlns:a16="http://schemas.microsoft.com/office/drawing/2014/main" val="2193038394"/>
                    </a:ext>
                  </a:extLst>
                </a:gridCol>
                <a:gridCol w="2239548">
                  <a:extLst>
                    <a:ext uri="{9D8B030D-6E8A-4147-A177-3AD203B41FA5}">
                      <a16:colId xmlns:a16="http://schemas.microsoft.com/office/drawing/2014/main" val="1993197335"/>
                    </a:ext>
                  </a:extLst>
                </a:gridCol>
                <a:gridCol w="2239548">
                  <a:extLst>
                    <a:ext uri="{9D8B030D-6E8A-4147-A177-3AD203B41FA5}">
                      <a16:colId xmlns:a16="http://schemas.microsoft.com/office/drawing/2014/main" val="2629393087"/>
                    </a:ext>
                  </a:extLst>
                </a:gridCol>
                <a:gridCol w="2239548">
                  <a:extLst>
                    <a:ext uri="{9D8B030D-6E8A-4147-A177-3AD203B41FA5}">
                      <a16:colId xmlns:a16="http://schemas.microsoft.com/office/drawing/2014/main" val="3470350277"/>
                    </a:ext>
                  </a:extLst>
                </a:gridCol>
              </a:tblGrid>
              <a:tr h="339555">
                <a:tc>
                  <a:txBody>
                    <a:bodyPr/>
                    <a:lstStyle/>
                    <a:p>
                      <a:r>
                        <a:rPr lang="ru-RU" sz="1600"/>
                        <a:t>Критерий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WireMock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MockServer</a:t>
                      </a:r>
                      <a:endParaRPr lang="en-US" sz="1600" dirty="0"/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Apache Tomcat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b="1"/>
                        <a:t>Разраб. система</a:t>
                      </a:r>
                      <a:endParaRPr lang="ru-RU" sz="1600"/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183629968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1600" dirty="0"/>
                        <a:t>Управление JAR/WAR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Нет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Нет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Да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b="1" dirty="0"/>
                        <a:t>Да</a:t>
                      </a:r>
                      <a:endParaRPr lang="ru-RU" sz="1600" dirty="0"/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76040357"/>
                  </a:ext>
                </a:extLst>
              </a:tr>
              <a:tr h="296462">
                <a:tc>
                  <a:txBody>
                    <a:bodyPr/>
                    <a:lstStyle/>
                    <a:p>
                      <a:r>
                        <a:rPr lang="ru-RU" sz="1600" dirty="0"/>
                        <a:t>Централизованная </a:t>
                      </a:r>
                      <a:r>
                        <a:rPr lang="ru-RU" sz="1600" dirty="0" err="1"/>
                        <a:t>оркестрация</a:t>
                      </a:r>
                      <a:endParaRPr lang="ru-RU" sz="1600" dirty="0"/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Нет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Нет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Частично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b="1"/>
                        <a:t>Да</a:t>
                      </a:r>
                      <a:endParaRPr lang="ru-RU" sz="1600"/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754382769"/>
                  </a:ext>
                </a:extLst>
              </a:tr>
              <a:tr h="296462">
                <a:tc>
                  <a:txBody>
                    <a:bodyPr/>
                    <a:lstStyle/>
                    <a:p>
                      <a:r>
                        <a:rPr lang="ru-RU" sz="1600"/>
                        <a:t>Динамический </a:t>
                      </a:r>
                      <a:r>
                        <a:rPr lang="en-US" sz="1600"/>
                        <a:t>Rate Limiting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Нет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Нет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Нет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b="1"/>
                        <a:t>Да</a:t>
                      </a:r>
                      <a:endParaRPr lang="ru-RU" sz="1600"/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709741136"/>
                  </a:ext>
                </a:extLst>
              </a:tr>
              <a:tr h="173788">
                <a:tc>
                  <a:txBody>
                    <a:bodyPr/>
                    <a:lstStyle/>
                    <a:p>
                      <a:r>
                        <a:rPr lang="ru-RU" sz="1600"/>
                        <a:t>Потребление ресурсов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Высокое (</a:t>
                      </a:r>
                      <a:r>
                        <a:rPr lang="en-US" sz="1600"/>
                        <a:t>JVM)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Высокое (</a:t>
                      </a:r>
                      <a:r>
                        <a:rPr lang="en-US" sz="1600"/>
                        <a:t>JVM)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Высокое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b="1"/>
                        <a:t>Низкое</a:t>
                      </a:r>
                      <a:endParaRPr lang="ru-RU" sz="1600"/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1334642467"/>
                  </a:ext>
                </a:extLst>
              </a:tr>
              <a:tr h="451845">
                <a:tc>
                  <a:txBody>
                    <a:bodyPr/>
                    <a:lstStyle/>
                    <a:p>
                      <a:r>
                        <a:rPr lang="ru-RU" sz="1600"/>
                        <a:t>Совместимость с </a:t>
                      </a:r>
                      <a:r>
                        <a:rPr lang="en-US" sz="1600"/>
                        <a:t>Astra Linux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Частично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Частично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Частично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b="1" dirty="0"/>
                        <a:t>Да</a:t>
                      </a:r>
                      <a:endParaRPr lang="ru-RU" sz="1600" dirty="0"/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4360069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109017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5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339755" y="536629"/>
            <a:ext cx="1028251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Архитектура и технологический стек</a:t>
            </a:r>
          </a:p>
        </p:txBody>
      </p:sp>
      <p:pic>
        <p:nvPicPr>
          <p:cNvPr id="8" name="Рисунок 7" descr="Изображение выглядит как текст, снимок экрана, Шрифт, диаграмма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891AAAA8-EB26-EB61-1803-37F426256D4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26" t="2623" r="1301" b="2469"/>
          <a:stretch/>
        </p:blipFill>
        <p:spPr>
          <a:xfrm>
            <a:off x="493057" y="1121404"/>
            <a:ext cx="7712635" cy="503228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968D3A5-7045-133E-337A-A3F693A49331}"/>
              </a:ext>
            </a:extLst>
          </p:cNvPr>
          <p:cNvSpPr txBox="1"/>
          <p:nvPr/>
        </p:nvSpPr>
        <p:spPr>
          <a:xfrm>
            <a:off x="8731624" y="1470212"/>
            <a:ext cx="2647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СТЕК КАРТИНКИ</a:t>
            </a:r>
          </a:p>
        </p:txBody>
      </p:sp>
    </p:spTree>
    <p:extLst>
      <p:ext uri="{BB962C8B-B14F-4D97-AF65-F5344CB8AC3E}">
        <p14:creationId xmlns:p14="http://schemas.microsoft.com/office/powerpoint/2010/main" val="22391009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6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915296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Структуры данных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A6AEEB-6479-6AF6-ED4B-A834C62D6DE6}"/>
              </a:ext>
            </a:extLst>
          </p:cNvPr>
          <p:cNvSpPr txBox="1"/>
          <p:nvPr/>
        </p:nvSpPr>
        <p:spPr>
          <a:xfrm>
            <a:off x="339755" y="1531226"/>
            <a:ext cx="34433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/>
              <a:t>СПИСОК СУЩНОСТЕЙ НА РУССКОМ</a:t>
            </a:r>
          </a:p>
        </p:txBody>
      </p:sp>
      <p:pic>
        <p:nvPicPr>
          <p:cNvPr id="8" name="Рисунок 7" descr="Изображение выглядит как текст, снимок экрана, число, программное обеспечение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AD97ABA3-4301-9AF9-6B01-C31A20F5D3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29725" y="1247410"/>
            <a:ext cx="7450728" cy="4930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22217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7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66456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Топология развёртывания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A6AEEB-6479-6AF6-ED4B-A834C62D6DE6}"/>
              </a:ext>
            </a:extLst>
          </p:cNvPr>
          <p:cNvSpPr txBox="1"/>
          <p:nvPr/>
        </p:nvSpPr>
        <p:spPr>
          <a:xfrm>
            <a:off x="457199" y="1466723"/>
            <a:ext cx="4001247" cy="37512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ru-RU" sz="1600" dirty="0"/>
              <a:t>Система поддерживает два режима без изменения кодовой базы:</a:t>
            </a:r>
          </a:p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ru-RU" sz="1600" b="1" dirty="0"/>
              <a:t>Cluster Mode</a:t>
            </a:r>
            <a:r>
              <a:rPr lang="ru-RU" sz="1600" dirty="0"/>
              <a:t>: один управляющий узел координирует несколько удалённых хостов через SSH/SFTP</a:t>
            </a:r>
          </a:p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ru-RU" sz="1600" b="1" dirty="0" err="1"/>
              <a:t>Standalone</a:t>
            </a:r>
            <a:r>
              <a:rPr lang="ru-RU" sz="1600" b="1" dirty="0"/>
              <a:t> Mode</a:t>
            </a:r>
            <a:r>
              <a:rPr lang="ru-RU" sz="1600" dirty="0"/>
              <a:t>: все компоненты на одном сервере</a:t>
            </a:r>
            <a:br>
              <a:rPr lang="ru-RU" sz="1600" dirty="0"/>
            </a:br>
            <a:r>
              <a:rPr lang="ru-RU" sz="1600" dirty="0"/>
              <a:t>На целевых хостах не требуется установка агентов — только SSH-сервер и </a:t>
            </a:r>
            <a:r>
              <a:rPr lang="ru-RU" sz="1600" dirty="0" err="1"/>
              <a:t>OpenJDK</a:t>
            </a:r>
            <a:r>
              <a:rPr lang="ru-RU" sz="1600" dirty="0"/>
              <a:t> 17.</a:t>
            </a:r>
          </a:p>
        </p:txBody>
      </p:sp>
      <p:pic>
        <p:nvPicPr>
          <p:cNvPr id="5" name="Рисунок 4" descr="Изображение выглядит как текст, снимок экрана, Шрифт, Параллельный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BFF6725E-7A65-7549-CB3D-77306428511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03137" y="1212568"/>
            <a:ext cx="7231664" cy="4965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59571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8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66456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 err="1">
                <a:latin typeface="Gilroy Bold" panose="00000800000000000000" pitchFamily="2" charset="-52"/>
                <a:ea typeface="+mj-ea"/>
                <a:cs typeface="+mj-cs"/>
              </a:rPr>
              <a:t>Проксирование</a:t>
            </a:r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 и Rate </a:t>
            </a:r>
            <a:r>
              <a:rPr lang="ru-RU" sz="3200" dirty="0" err="1">
                <a:latin typeface="Gilroy Bold" panose="00000800000000000000" pitchFamily="2" charset="-52"/>
                <a:ea typeface="+mj-ea"/>
                <a:cs typeface="+mj-cs"/>
              </a:rPr>
              <a:t>Limiting</a:t>
            </a:r>
            <a:endParaRPr lang="ru-RU" sz="3200" dirty="0">
              <a:latin typeface="Gilroy Bold" panose="00000800000000000000" pitchFamily="2" charset="-52"/>
              <a:ea typeface="+mj-ea"/>
              <a:cs typeface="+mj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DDA008-5FC4-78D9-955B-5FE9E4E256DE}"/>
              </a:ext>
            </a:extLst>
          </p:cNvPr>
          <p:cNvSpPr txBox="1"/>
          <p:nvPr/>
        </p:nvSpPr>
        <p:spPr>
          <a:xfrm>
            <a:off x="1195294" y="2772285"/>
            <a:ext cx="98014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0" dirty="0">
                <a:effectLst/>
                <a:latin typeface="Consolas" panose="020B0609020204030204" pitchFamily="49" charset="0"/>
              </a:rPr>
              <a:t>ВСТАВИТЬ </a:t>
            </a:r>
            <a:r>
              <a:rPr lang="ru-RU" sz="1600" b="0" dirty="0" err="1">
                <a:effectLst/>
                <a:latin typeface="Consolas" panose="020B0609020204030204" pitchFamily="49" charset="0"/>
              </a:rPr>
              <a:t>БЛОК-схему</a:t>
            </a:r>
            <a:r>
              <a:rPr lang="ru-RU" sz="1600" b="0" dirty="0">
                <a:effectLst/>
                <a:latin typeface="Consolas" panose="020B0609020204030204" pitchFamily="49" charset="0"/>
              </a:rPr>
              <a:t> </a:t>
            </a:r>
            <a:r>
              <a:rPr lang="ru-RU" sz="1600" b="0" dirty="0" err="1">
                <a:effectLst/>
                <a:latin typeface="Consolas" panose="020B0609020204030204" pitchFamily="49" charset="0"/>
              </a:rPr>
              <a:t>рейтлимит</a:t>
            </a:r>
            <a:endParaRPr lang="ru-RU" sz="1600" b="0" dirty="0">
              <a:effectLst/>
              <a:latin typeface="Consolas" panose="020B0609020204030204" pitchFamily="49" charset="0"/>
            </a:endParaRPr>
          </a:p>
        </p:txBody>
      </p:sp>
      <p:pic>
        <p:nvPicPr>
          <p:cNvPr id="8" name="Рисунок 7" descr="Изображение выглядит как текст, снимок экрана, диаграмма, График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4CE38F7F-E48C-9123-6382-1AB58F7F6DC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41694" y="3110839"/>
            <a:ext cx="4020574" cy="2177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33932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9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66456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Управление жизненным циклом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A6AEEB-6479-6AF6-ED4B-A834C62D6DE6}"/>
              </a:ext>
            </a:extLst>
          </p:cNvPr>
          <p:cNvSpPr txBox="1"/>
          <p:nvPr/>
        </p:nvSpPr>
        <p:spPr>
          <a:xfrm>
            <a:off x="1594377" y="3429000"/>
            <a:ext cx="7751616" cy="4119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1600" dirty="0"/>
              <a:t>СДЕЛАТЬ ДИАГРАММЫ ЖИЗНЕННОГО ЦИКЛА</a:t>
            </a:r>
          </a:p>
        </p:txBody>
      </p:sp>
    </p:spTree>
    <p:extLst>
      <p:ext uri="{BB962C8B-B14F-4D97-AF65-F5344CB8AC3E}">
        <p14:creationId xmlns:p14="http://schemas.microsoft.com/office/powerpoint/2010/main" val="8729221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10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66456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Веб-интерфейс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A6AEEB-6479-6AF6-ED4B-A834C62D6DE6}"/>
              </a:ext>
            </a:extLst>
          </p:cNvPr>
          <p:cNvSpPr txBox="1"/>
          <p:nvPr/>
        </p:nvSpPr>
        <p:spPr>
          <a:xfrm>
            <a:off x="914400" y="2188286"/>
            <a:ext cx="9814179" cy="4119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1600" dirty="0"/>
              <a:t>ВСТАВИТЬ 2 ОКНА </a:t>
            </a:r>
            <a:r>
              <a:rPr lang="en-US" sz="1600" dirty="0"/>
              <a:t>side by side </a:t>
            </a:r>
            <a:r>
              <a:rPr lang="ru-RU" sz="1600" dirty="0"/>
              <a:t>регистрация заглушки и </a:t>
            </a:r>
            <a:r>
              <a:rPr lang="ru-RU" sz="1600" dirty="0" err="1"/>
              <a:t>дашборд</a:t>
            </a:r>
            <a:endParaRPr lang="ru-RU" sz="1600" dirty="0"/>
          </a:p>
        </p:txBody>
      </p:sp>
      <p:pic>
        <p:nvPicPr>
          <p:cNvPr id="5" name="Рисунок 4" descr="Изображение выглядит как снимок экрана, текст, программное обеспечение, Мультимедийное программное обеспечение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CC78FB8E-26D2-3DBB-7B5D-C2506D87FF5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9894"/>
          <a:stretch/>
        </p:blipFill>
        <p:spPr>
          <a:xfrm>
            <a:off x="692660" y="3035007"/>
            <a:ext cx="10806680" cy="27084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48260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11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66456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Функциональное тестирование</a:t>
            </a: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94333BB9-A0A9-AF68-A54E-4D37143ECD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6778445"/>
              </p:ext>
            </p:extLst>
          </p:nvPr>
        </p:nvGraphicFramePr>
        <p:xfrm>
          <a:off x="914400" y="1659284"/>
          <a:ext cx="10282239" cy="3551174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4620904">
                  <a:extLst>
                    <a:ext uri="{9D8B030D-6E8A-4147-A177-3AD203B41FA5}">
                      <a16:colId xmlns:a16="http://schemas.microsoft.com/office/drawing/2014/main" val="1472585013"/>
                    </a:ext>
                  </a:extLst>
                </a:gridCol>
                <a:gridCol w="1719618">
                  <a:extLst>
                    <a:ext uri="{9D8B030D-6E8A-4147-A177-3AD203B41FA5}">
                      <a16:colId xmlns:a16="http://schemas.microsoft.com/office/drawing/2014/main" val="3833472201"/>
                    </a:ext>
                  </a:extLst>
                </a:gridCol>
                <a:gridCol w="3941717">
                  <a:extLst>
                    <a:ext uri="{9D8B030D-6E8A-4147-A177-3AD203B41FA5}">
                      <a16:colId xmlns:a16="http://schemas.microsoft.com/office/drawing/2014/main" val="253490974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600"/>
                        <a:t>Сценарий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ru-RU" sz="1600" dirty="0"/>
                        <a:t>Успешность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600" dirty="0"/>
                        <a:t>Результат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082598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600"/>
                        <a:t>Перезапуск при работающих процессах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ru-RU" sz="1600" dirty="0"/>
                        <a:t>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600" dirty="0"/>
                        <a:t>Статусы </a:t>
                      </a:r>
                      <a:r>
                        <a:rPr lang="en-US" sz="1600" dirty="0"/>
                        <a:t>RUNNING </a:t>
                      </a:r>
                      <a:r>
                        <a:rPr lang="ru-RU" sz="1600" dirty="0"/>
                        <a:t>сохранены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556194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600" dirty="0"/>
                        <a:t>Перезапуск при завершённых процессах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ru-RU" sz="1600" dirty="0"/>
                        <a:t>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600" dirty="0"/>
                        <a:t>Автоматический перезапуск заглушек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584144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600" dirty="0"/>
                        <a:t>Восстановление после аварии </a:t>
                      </a:r>
                      <a:r>
                        <a:rPr lang="en-US" sz="1600" dirty="0"/>
                        <a:t>Redis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ru-RU" sz="1600" dirty="0"/>
                        <a:t>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600" dirty="0"/>
                        <a:t>Данные восстановлены из </a:t>
                      </a:r>
                      <a:r>
                        <a:rPr lang="en-US" sz="1600" dirty="0"/>
                        <a:t>AOF-</a:t>
                      </a:r>
                      <a:r>
                        <a:rPr lang="ru-RU" sz="1600" dirty="0"/>
                        <a:t>журнала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446464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600" dirty="0"/>
                        <a:t>Обнаружение сбоя планировщиком </a:t>
                      </a:r>
                      <a:r>
                        <a:rPr lang="en-US" sz="1600" dirty="0" err="1"/>
                        <a:t>HealthChecker</a:t>
                      </a:r>
                      <a:endParaRPr 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ru-RU" sz="1600" dirty="0"/>
                        <a:t>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600" dirty="0"/>
                        <a:t>Статус ERROR за ≤ 30 с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04293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600" dirty="0" err="1"/>
                        <a:t>Автовозврат</a:t>
                      </a:r>
                      <a:r>
                        <a:rPr lang="ru-RU" sz="1600" dirty="0"/>
                        <a:t> из ERROR в RUNNING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ru-RU" sz="1600" dirty="0"/>
                        <a:t>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600" dirty="0"/>
                        <a:t>Статус RUNNING за ≤ 30 с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771263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563373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12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66456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>
                <a:latin typeface="Gilroy Bold" panose="00000800000000000000" pitchFamily="2" charset="-52"/>
                <a:ea typeface="+mj-ea"/>
                <a:cs typeface="+mj-cs"/>
              </a:rPr>
              <a:t>Нагрузочное тестирование</a:t>
            </a:r>
            <a:endParaRPr lang="ru-RU" sz="3200" dirty="0">
              <a:latin typeface="Gilroy Bold" panose="00000800000000000000" pitchFamily="2" charset="-52"/>
              <a:ea typeface="+mj-ea"/>
              <a:cs typeface="+mj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A6AEEB-6479-6AF6-ED4B-A834C62D6DE6}"/>
              </a:ext>
            </a:extLst>
          </p:cNvPr>
          <p:cNvSpPr txBox="1"/>
          <p:nvPr/>
        </p:nvSpPr>
        <p:spPr>
          <a:xfrm>
            <a:off x="954880" y="1593430"/>
            <a:ext cx="10729120" cy="4119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1600" dirty="0"/>
              <a:t>Инструмент: k6. Наблюдение через </a:t>
            </a:r>
            <a:r>
              <a:rPr lang="ru-RU" sz="1600" dirty="0" err="1"/>
              <a:t>эндпоинт</a:t>
            </a:r>
            <a:r>
              <a:rPr lang="ru-RU" sz="1600" dirty="0"/>
              <a:t> /</a:t>
            </a:r>
            <a:r>
              <a:rPr lang="ru-RU" sz="1600" dirty="0" err="1"/>
              <a:t>metrics</a:t>
            </a:r>
            <a:r>
              <a:rPr lang="ru-RU" sz="1600" dirty="0"/>
              <a:t> (</a:t>
            </a:r>
            <a:r>
              <a:rPr lang="ru-RU" sz="1600" dirty="0" err="1"/>
              <a:t>Prometheus</a:t>
            </a:r>
            <a:r>
              <a:rPr lang="ru-RU" sz="1600" dirty="0"/>
              <a:t>).</a:t>
            </a: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9E7AA6F9-7395-8004-5D71-C8FCE9E11A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2577363"/>
              </p:ext>
            </p:extLst>
          </p:nvPr>
        </p:nvGraphicFramePr>
        <p:xfrm>
          <a:off x="954880" y="2352603"/>
          <a:ext cx="10282239" cy="3471545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3427413">
                  <a:extLst>
                    <a:ext uri="{9D8B030D-6E8A-4147-A177-3AD203B41FA5}">
                      <a16:colId xmlns:a16="http://schemas.microsoft.com/office/drawing/2014/main" val="4246277828"/>
                    </a:ext>
                  </a:extLst>
                </a:gridCol>
                <a:gridCol w="3427413">
                  <a:extLst>
                    <a:ext uri="{9D8B030D-6E8A-4147-A177-3AD203B41FA5}">
                      <a16:colId xmlns:a16="http://schemas.microsoft.com/office/drawing/2014/main" val="3350268425"/>
                    </a:ext>
                  </a:extLst>
                </a:gridCol>
                <a:gridCol w="3427413">
                  <a:extLst>
                    <a:ext uri="{9D8B030D-6E8A-4147-A177-3AD203B41FA5}">
                      <a16:colId xmlns:a16="http://schemas.microsoft.com/office/drawing/2014/main" val="3905350028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800"/>
                        <a:t>Сценарий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800" dirty="0"/>
                        <a:t>Показатель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800"/>
                        <a:t>Результат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6352924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800"/>
                        <a:t>Базовая нагрузка (10 </a:t>
                      </a:r>
                      <a:r>
                        <a:rPr lang="en-US" sz="1800"/>
                        <a:t>RPS)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1800"/>
                        <a:t>proxy_total_ms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800"/>
                        <a:t>3,90 мс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35834927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800"/>
                        <a:t>Нарастающая нагрузка (500 </a:t>
                      </a:r>
                      <a:r>
                        <a:rPr lang="en-US" sz="1800"/>
                        <a:t>RPS)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1800" dirty="0" err="1"/>
                        <a:t>proxy_total_ms</a:t>
                      </a:r>
                      <a:endParaRPr lang="en-US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800"/>
                        <a:t>3,01 мс — линейный рост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87857546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800"/>
                        <a:t>Нарастающая нагрузка (1000 </a:t>
                      </a:r>
                      <a:r>
                        <a:rPr lang="en-US" sz="1800"/>
                        <a:t>RPS)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1800"/>
                        <a:t>proxy_total_ms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800"/>
                        <a:t>10,52 мс — без отказов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5305141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1800"/>
                        <a:t>Rate Limiting (</a:t>
                      </a:r>
                      <a:r>
                        <a:rPr lang="ru-RU" sz="1800"/>
                        <a:t>лимит 250, нагрузка 500 </a:t>
                      </a:r>
                      <a:r>
                        <a:rPr lang="en-US" sz="1800"/>
                        <a:t>RPS)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800"/>
                        <a:t>Отклонение от лимита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800" b="1" dirty="0"/>
                        <a:t>0,13%</a:t>
                      </a:r>
                      <a:endParaRPr lang="ru-RU" sz="1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19924372"/>
                  </a:ext>
                </a:extLst>
              </a:tr>
            </a:tbl>
          </a:graphicData>
        </a:graphic>
      </p:graphicFrame>
      <p:pic>
        <p:nvPicPr>
          <p:cNvPr id="8" name="Рисунок 7" descr="Изображение выглядит как текст, снимок экрана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733C3D98-9C16-2BDC-A231-29FF155FAE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40808" y="923116"/>
            <a:ext cx="7149608" cy="33853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98202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13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66456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Результаты работы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A6AEEB-6479-6AF6-ED4B-A834C62D6DE6}"/>
              </a:ext>
            </a:extLst>
          </p:cNvPr>
          <p:cNvSpPr txBox="1"/>
          <p:nvPr/>
        </p:nvSpPr>
        <p:spPr>
          <a:xfrm>
            <a:off x="339755" y="1659285"/>
            <a:ext cx="11344245" cy="41052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1600" dirty="0"/>
              <a:t>Все 6 задач выполнены в полном объёме. </a:t>
            </a:r>
          </a:p>
          <a:p>
            <a:pPr>
              <a:lnSpc>
                <a:spcPct val="150000"/>
              </a:lnSpc>
            </a:pPr>
            <a:r>
              <a:rPr lang="ru-RU" sz="1600" dirty="0"/>
              <a:t>Разработан программный комплекс, не имеющий прямых аналогов среди существующих решений.</a:t>
            </a:r>
          </a:p>
          <a:p>
            <a:pPr>
              <a:lnSpc>
                <a:spcPct val="150000"/>
              </a:lnSpc>
            </a:pPr>
            <a:r>
              <a:rPr lang="ru-RU" sz="1600" dirty="0"/>
              <a:t>Ключевые характеристики: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600" dirty="0"/>
              <a:t>Задержка прокси: ≤ 3,01 мс при нагрузке до 500 RPS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600" dirty="0"/>
              <a:t>Точность Rate </a:t>
            </a:r>
            <a:r>
              <a:rPr lang="ru-RU" sz="1600" dirty="0" err="1"/>
              <a:t>Limiting</a:t>
            </a:r>
            <a:r>
              <a:rPr lang="ru-RU" sz="1600" dirty="0"/>
              <a:t>: отклонение 0,13% от теоретического лимита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600" dirty="0"/>
              <a:t>Время обнаружения сбоя: ≤ 30 с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600" dirty="0"/>
              <a:t>Научная новизна: </a:t>
            </a:r>
            <a:r>
              <a:rPr lang="ru-RU" sz="1600" dirty="0" err="1"/>
              <a:t>агентно</a:t>
            </a:r>
            <a:r>
              <a:rPr lang="ru-RU" sz="1600" dirty="0"/>
              <a:t>-независимое управление распределённой средой заглушек с индивидуальным Rate </a:t>
            </a:r>
            <a:r>
              <a:rPr lang="ru-RU" sz="1600" dirty="0" err="1"/>
              <a:t>Limiting</a:t>
            </a:r>
            <a:r>
              <a:rPr lang="ru-RU" sz="1600" dirty="0"/>
              <a:t> для каждого сервиса без перезапуска *ПРИДУМАТЬ КАК ПЕРЕФРАЗИРОВАТЬ НЕЗАМЕТНО*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600" dirty="0"/>
              <a:t>Направления развития: динамическая маршрутизация по содержимому запроса, ролевая модель доступа, поддержка не-JVM артефактов</a:t>
            </a:r>
          </a:p>
        </p:txBody>
      </p:sp>
    </p:spTree>
    <p:extLst>
      <p:ext uri="{BB962C8B-B14F-4D97-AF65-F5344CB8AC3E}">
        <p14:creationId xmlns:p14="http://schemas.microsoft.com/office/powerpoint/2010/main" val="19503674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Прямая соединительная линия 3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48D64222-1292-4A23-A829-4D7C56BB71FE}"/>
              </a:ext>
            </a:extLst>
          </p:cNvPr>
          <p:cNvSpPr txBox="1"/>
          <p:nvPr/>
        </p:nvSpPr>
        <p:spPr>
          <a:xfrm>
            <a:off x="4537880" y="723037"/>
            <a:ext cx="765411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  <a:ea typeface="+mj-ea"/>
                <a:cs typeface="+mj-cs"/>
              </a:rPr>
              <a:t>Спасибо за внимание!</a:t>
            </a:r>
            <a:endParaRPr lang="ru-RU" sz="2800" dirty="0">
              <a:latin typeface="Gilroy Medium" panose="00000600000000000000" charset="-52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AAA36A-0422-46F0-BA3A-4B2EF754C329}"/>
              </a:ext>
            </a:extLst>
          </p:cNvPr>
          <p:cNvSpPr txBox="1"/>
          <p:nvPr/>
        </p:nvSpPr>
        <p:spPr>
          <a:xfrm>
            <a:off x="76899" y="2951946"/>
            <a:ext cx="118872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Bold" panose="00000800000000000000" charset="-52"/>
                <a:ea typeface="+mn-ea"/>
                <a:cs typeface="+mn-cs"/>
              </a:rPr>
              <a:t>РАЗРАБОТКА СИСТЕМЫ ДЛЯ ПРОКСИРОВАНИЯ И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Bold" panose="00000800000000000000" charset="-52"/>
                <a:ea typeface="+mn-ea"/>
                <a:cs typeface="+mn-cs"/>
              </a:rPr>
              <a:t>МОНИТОРИНГА ИМИТАЦИОННЫХ СЕРВИСОВ В СРЕДЕ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Bold" panose="00000800000000000000" charset="-52"/>
                <a:ea typeface="+mn-ea"/>
                <a:cs typeface="+mn-cs"/>
              </a:rPr>
              <a:t>НАГРУЗОЧНОГО ТЕСТИРОВАНИЯ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218C808-D44B-4FFB-A9B8-91FA34E1C60F}"/>
              </a:ext>
            </a:extLst>
          </p:cNvPr>
          <p:cNvSpPr txBox="1"/>
          <p:nvPr/>
        </p:nvSpPr>
        <p:spPr>
          <a:xfrm>
            <a:off x="7373922" y="4597930"/>
            <a:ext cx="4221759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>
                <a:latin typeface="Gilroy Medium" panose="00000600000000000000" charset="-52"/>
              </a:rPr>
              <a:t>Студент: 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>
                <a:latin typeface="Gilroy Medium" panose="00000600000000000000" charset="-52"/>
              </a:rPr>
              <a:t>Медведев Клим Николаевич, 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>
                <a:latin typeface="Gilroy Medium" panose="00000600000000000000" charset="-52"/>
              </a:rPr>
              <a:t>группа 221-329. 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>
                <a:latin typeface="Gilroy Medium" panose="00000600000000000000" charset="-52"/>
              </a:rPr>
              <a:t>Научный руководитель: 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 err="1">
                <a:latin typeface="Gilroy Medium" panose="00000600000000000000" charset="-52"/>
              </a:rPr>
              <a:t>Кружалов</a:t>
            </a:r>
            <a:r>
              <a:rPr lang="ru-RU" sz="1800" dirty="0">
                <a:latin typeface="Gilroy Medium" panose="00000600000000000000" charset="-52"/>
              </a:rPr>
              <a:t> Алексей Сергеевич,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dirty="0">
                <a:latin typeface="Gilroy Medium" panose="00000600000000000000" charset="-52"/>
              </a:rPr>
              <a:t>с</a:t>
            </a:r>
            <a:r>
              <a:rPr lang="ru-RU" sz="1800" dirty="0">
                <a:latin typeface="Gilroy Medium" panose="00000600000000000000" charset="-52"/>
              </a:rPr>
              <a:t>тарший преп</a:t>
            </a:r>
            <a:r>
              <a:rPr lang="ru-RU" dirty="0">
                <a:latin typeface="Gilroy Medium" panose="00000600000000000000" charset="-52"/>
              </a:rPr>
              <a:t>одаватель.</a:t>
            </a:r>
            <a:endParaRPr lang="ru-RU" sz="1800" dirty="0">
              <a:solidFill>
                <a:schemeClr val="tx1"/>
              </a:solidFill>
              <a:latin typeface="Gilroy Medium" panose="00000600000000000000" charset="-52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FE4B5EE-80E5-44C9-B29C-37CD3F69DA42}"/>
              </a:ext>
            </a:extLst>
          </p:cNvPr>
          <p:cNvSpPr txBox="1"/>
          <p:nvPr/>
        </p:nvSpPr>
        <p:spPr>
          <a:xfrm>
            <a:off x="4782071" y="6353372"/>
            <a:ext cx="225034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Москва, 4 июня 2026</a:t>
            </a:r>
          </a:p>
        </p:txBody>
      </p:sp>
    </p:spTree>
    <p:extLst>
      <p:ext uri="{BB962C8B-B14F-4D97-AF65-F5344CB8AC3E}">
        <p14:creationId xmlns:p14="http://schemas.microsoft.com/office/powerpoint/2010/main" val="317611758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2">
  <a:themeElements>
    <a:clrScheme name="Московский Политех">
      <a:dk1>
        <a:sysClr val="windowText" lastClr="000000"/>
      </a:dk1>
      <a:lt1>
        <a:sysClr val="window" lastClr="FFFFFF"/>
      </a:lt1>
      <a:dk2>
        <a:srgbClr val="171616"/>
      </a:dk2>
      <a:lt2>
        <a:srgbClr val="E7E6E6"/>
      </a:lt2>
      <a:accent1>
        <a:srgbClr val="E61E46"/>
      </a:accent1>
      <a:accent2>
        <a:srgbClr val="1E3E8D"/>
      </a:accent2>
      <a:accent3>
        <a:srgbClr val="A5A5A5"/>
      </a:accent3>
      <a:accent4>
        <a:srgbClr val="60DCCA"/>
      </a:accent4>
      <a:accent5>
        <a:srgbClr val="3478BC"/>
      </a:accent5>
      <a:accent6>
        <a:srgbClr val="E94572"/>
      </a:accent6>
      <a:hlink>
        <a:srgbClr val="3478BC"/>
      </a:hlink>
      <a:folHlink>
        <a:srgbClr val="E94572"/>
      </a:folHlink>
    </a:clrScheme>
    <a:fontScheme name="Другая 2">
      <a:majorFont>
        <a:latin typeface="Verdana "/>
        <a:ea typeface=""/>
        <a:cs typeface=""/>
      </a:majorFont>
      <a:minorFont>
        <a:latin typeface="Verdana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Презентация6" id="{2AEEDDF9-59ED-463C-8E0C-BF21DC8B3CB6}" vid="{CDD37877-5C07-4AD6-AFB2-357C367BDEC8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Shablon_Moscow_Poly_v3</Template>
  <TotalTime>723</TotalTime>
  <Words>854</Words>
  <Application>Microsoft Office PowerPoint</Application>
  <PresentationFormat>Широкоэкранный</PresentationFormat>
  <Paragraphs>183</Paragraphs>
  <Slides>14</Slides>
  <Notes>14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21" baseType="lpstr">
      <vt:lpstr>Gilroy Medium</vt:lpstr>
      <vt:lpstr>Gilroy Bold</vt:lpstr>
      <vt:lpstr>Verdana</vt:lpstr>
      <vt:lpstr>Arial</vt:lpstr>
      <vt:lpstr>Consolas</vt:lpstr>
      <vt:lpstr>Calibri</vt:lpstr>
      <vt:lpstr>Тема2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Veronika Natur</dc:creator>
  <cp:lastModifiedBy>Клим Медведев</cp:lastModifiedBy>
  <cp:revision>42</cp:revision>
  <dcterms:created xsi:type="dcterms:W3CDTF">2024-05-27T20:04:35Z</dcterms:created>
  <dcterms:modified xsi:type="dcterms:W3CDTF">2026-05-19T18:53:25Z</dcterms:modified>
</cp:coreProperties>
</file>
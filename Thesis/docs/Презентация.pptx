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6" r:id="rId1"/>
  </p:sldMasterIdLst>
  <p:notesMasterIdLst>
    <p:notesMasterId r:id="rId16"/>
  </p:notesMasterIdLst>
  <p:sldIdLst>
    <p:sldId id="256" r:id="rId2"/>
    <p:sldId id="274" r:id="rId3"/>
    <p:sldId id="272" r:id="rId4"/>
    <p:sldId id="273" r:id="rId5"/>
    <p:sldId id="275" r:id="rId6"/>
    <p:sldId id="276" r:id="rId7"/>
    <p:sldId id="284" r:id="rId8"/>
    <p:sldId id="277" r:id="rId9"/>
    <p:sldId id="278" r:id="rId10"/>
    <p:sldId id="279" r:id="rId11"/>
    <p:sldId id="280" r:id="rId12"/>
    <p:sldId id="281" r:id="rId13"/>
    <p:sldId id="282" r:id="rId14"/>
    <p:sldId id="283" r:id="rId15"/>
  </p:sldIdLst>
  <p:sldSz cx="12192000" cy="6858000"/>
  <p:notesSz cx="6858000" cy="9144000"/>
  <p:embeddedFontLst>
    <p:embeddedFont>
      <p:font typeface="Consolas" panose="020B0609020204030204" pitchFamily="49" charset="0"/>
      <p:regular r:id="rId17"/>
      <p:bold r:id="rId18"/>
      <p:italic r:id="rId19"/>
      <p:boldItalic r:id="rId20"/>
    </p:embeddedFont>
    <p:embeddedFont>
      <p:font typeface="Gilroy Bold" panose="00000800000000000000" pitchFamily="50" charset="-52"/>
      <p:bold r:id="rId21"/>
    </p:embeddedFont>
    <p:embeddedFont>
      <p:font typeface="Gilroy Medium" panose="00000600000000000000" pitchFamily="50" charset="-52"/>
      <p:regular r:id="rId22"/>
    </p:embeddedFont>
    <p:embeddedFont>
      <p:font typeface="Verdana" panose="020B0604030504040204" pitchFamily="34" charset="0"/>
      <p:regular r:id="rId23"/>
      <p:bold r:id="rId24"/>
      <p:italic r:id="rId25"/>
      <p:boldItalic r:id="rId26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4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70" y="114"/>
      </p:cViewPr>
      <p:guideLst>
        <p:guide orient="horz" pos="504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B9DC91-30C7-46AB-ADDB-A80A0533D77A}" type="datetimeFigureOut">
              <a:rPr lang="ru-RU" smtClean="0"/>
              <a:t>17.05.2026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B6BEC5-E5BF-4073-B59F-AF429BC8313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94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45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4820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3611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6981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0495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5128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67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1060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74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9102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3066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825601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69934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4B6BEC5-E5BF-4073-B59F-AF429BC8313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6937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039528" y="2001837"/>
            <a:ext cx="10087276" cy="1508125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039528" y="4129238"/>
            <a:ext cx="10087276" cy="11285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6097" y="5654764"/>
            <a:ext cx="2860213" cy="1632459"/>
          </a:xfrm>
          <a:prstGeom prst="rect">
            <a:avLst/>
          </a:prstGeom>
        </p:spPr>
      </p:pic>
      <p:cxnSp>
        <p:nvCxnSpPr>
          <p:cNvPr id="12" name="Прямая соединительная линия 11"/>
          <p:cNvCxnSpPr/>
          <p:nvPr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8" name="Рисунок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530" y="-100001"/>
            <a:ext cx="3006013" cy="2125974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 userDrawn="1"/>
        </p:nvCxnSpPr>
        <p:spPr>
          <a:xfrm>
            <a:off x="4555671" y="1224644"/>
            <a:ext cx="7740000" cy="0"/>
          </a:xfrm>
          <a:prstGeom prst="line">
            <a:avLst/>
          </a:prstGeom>
          <a:ln w="5715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9507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959430"/>
            <a:ext cx="10281557" cy="364943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D3C23-8038-4008-B24E-40A94D79456D}" type="datetime1">
              <a:rPr lang="ru-RU" smtClean="0"/>
              <a:t>17.05.2026</a:t>
            </a:fld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10080171" y="5698671"/>
            <a:ext cx="1787979" cy="1047296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7370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58779" y="1286227"/>
            <a:ext cx="10087276" cy="215961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58779" y="4165953"/>
            <a:ext cx="10087276" cy="1445576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2427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9993084" y="5390016"/>
            <a:ext cx="1828800" cy="1331459"/>
          </a:xfrm>
        </p:spPr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252357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3543300" cy="410981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ADD92-CC98-4900-BE8A-2068547BBC1A}" type="datetime1">
              <a:rPr lang="ru-RU" smtClean="0"/>
              <a:t>17.05.2026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800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992085"/>
            <a:ext cx="420574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702379"/>
            <a:ext cx="420574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5372100" y="1992085"/>
            <a:ext cx="4327071" cy="51298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5372100" y="2702379"/>
            <a:ext cx="4327071" cy="32167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738898-160C-4747-9301-0B5702FA49D8}" type="datetime1">
              <a:rPr lang="ru-RU" smtClean="0"/>
              <a:t>17.05.2026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8859383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36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BB16F-DABE-4712-B47F-7722E1CB50FE}" type="datetime1">
              <a:rPr lang="ru-RU" smtClean="0"/>
              <a:t>17.05.2026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03277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BEA22-9938-4273-8C60-D80B349E4BA9}" type="datetime1">
              <a:rPr lang="ru-RU" smtClean="0"/>
              <a:t>17.05.2026</a:t>
            </a:fld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1701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66859" y="1281339"/>
            <a:ext cx="4898069" cy="45876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0D790B-F35A-4C90-BC4A-BA7F77964CA4}" type="datetime1">
              <a:rPr lang="ru-RU" smtClean="0"/>
              <a:t>17.05.2026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9784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1BE76D-E181-4177-862E-40D97C82BFEB}" type="slidenum">
              <a:rPr lang="ru-RU" smtClean="0"/>
              <a:t>‹#›</a:t>
            </a:fld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526721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1273629"/>
            <a:ext cx="5823902" cy="41120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32831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EF080-AA0F-44FA-BA62-A56D8619F7E7}" type="datetime1">
              <a:rPr lang="ru-RU" smtClean="0"/>
              <a:t>17.05.2026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0307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Номер слайда 5" title="0"/>
          <p:cNvSpPr>
            <a:spLocks noGrp="1" noChangeAspect="1"/>
          </p:cNvSpPr>
          <p:nvPr>
            <p:ph type="sldNum" sz="quarter" idx="4"/>
          </p:nvPr>
        </p:nvSpPr>
        <p:spPr>
          <a:xfrm>
            <a:off x="10076358" y="5731329"/>
            <a:ext cx="1787978" cy="1071890"/>
          </a:xfrm>
          <a:prstGeom prst="rect">
            <a:avLst/>
          </a:prstGeom>
        </p:spPr>
        <p:txBody>
          <a:bodyPr vert="horz" wrap="square" lIns="91440" tIns="45720" rIns="91440" bIns="45720" rtlCol="0" anchor="ctr" anchorCtr="0">
            <a:noAutofit/>
          </a:bodyPr>
          <a:lstStyle>
            <a:lvl1pPr algn="l">
              <a:defRPr sz="9600" b="0" i="0" baseline="0">
                <a:solidFill>
                  <a:schemeClr val="bg2">
                    <a:lumMod val="90000"/>
                  </a:schemeClr>
                </a:solidFill>
                <a:latin typeface="Gilroy Medium" panose="00000600000000000000" pitchFamily="2" charset="-52"/>
              </a:defRPr>
            </a:lvl1pPr>
          </a:lstStyle>
          <a:p>
            <a:fld id="{A01BE76D-E181-4177-862E-40D97C82BFEB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959429"/>
            <a:ext cx="10281557" cy="3657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AB8CDF-4973-4195-91CA-18BA11F1D400}" type="datetime1">
              <a:rPr lang="ru-RU" smtClean="0"/>
              <a:t>17.05.2026</a:t>
            </a:fld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768" y="200819"/>
            <a:ext cx="1489158" cy="1053193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555171"/>
            <a:ext cx="8877300" cy="11355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Прямая соединительная линия 10"/>
          <p:cNvCxnSpPr/>
          <p:nvPr userDrawn="1"/>
        </p:nvCxnSpPr>
        <p:spPr>
          <a:xfrm>
            <a:off x="10260531" y="1094014"/>
            <a:ext cx="1980000" cy="0"/>
          </a:xfrm>
          <a:prstGeom prst="line">
            <a:avLst/>
          </a:prstGeom>
          <a:ln w="38100" cap="rnd">
            <a:round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667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7" r:id="rId1"/>
    <p:sldLayoutId id="2147483898" r:id="rId2"/>
    <p:sldLayoutId id="2147483899" r:id="rId3"/>
    <p:sldLayoutId id="2147483900" r:id="rId4"/>
    <p:sldLayoutId id="2147483901" r:id="rId5"/>
    <p:sldLayoutId id="2147483902" r:id="rId6"/>
    <p:sldLayoutId id="2147483903" r:id="rId7"/>
    <p:sldLayoutId id="2147483904" r:id="rId8"/>
    <p:sldLayoutId id="2147483905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Gilroy Bold" panose="00000800000000000000" pitchFamily="2" charset="-52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Gilroy Medium" panose="00000600000000000000" pitchFamily="2" charset="-52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067954" y="723037"/>
            <a:ext cx="81240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ВЫПУСКНАЯ КВАЛИФИКАЦИОННАЯ РАБОТА</a:t>
            </a:r>
          </a:p>
          <a:p>
            <a:pPr algn="ctr"/>
            <a:endParaRPr kumimoji="0" lang="ru-RU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  <a:ea typeface="+mj-ea"/>
              <a:cs typeface="+mj-cs"/>
            </a:endParaRPr>
          </a:p>
          <a:p>
            <a:pPr algn="ctr"/>
            <a:r>
              <a:rPr kumimoji="0" lang="ru-RU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 </a:t>
            </a:r>
            <a:r>
              <a:rPr lang="ru-RU" dirty="0">
                <a:latin typeface="Gilroy Medium" panose="00000600000000000000" charset="-52"/>
              </a:rPr>
              <a:t>по направлению 09.03.01 Информатика и вычислительная техника</a:t>
            </a:r>
          </a:p>
          <a:p>
            <a:pPr algn="ctr"/>
            <a:r>
              <a:rPr lang="ru-RU" dirty="0">
                <a:latin typeface="Gilroy Medium" panose="00000600000000000000" charset="-52"/>
              </a:rPr>
              <a:t>Образовательная программа (профиль) «Системная и программная инженерия»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91641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Актуальность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2115050"/>
            <a:ext cx="11344245" cy="29972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При нагрузочном тестировании сложных систем требуются десятки имитационных сервисов (заглушек). Ручное управление ими — трудоёмко и ненадёжно.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Проблемы существующих решений: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</a:t>
            </a:r>
            <a:r>
              <a:rPr lang="ru-RU" sz="1600" dirty="0" err="1"/>
              <a:t>ireMock</a:t>
            </a:r>
            <a:r>
              <a:rPr lang="ru-RU" sz="1600" dirty="0"/>
              <a:t>, </a:t>
            </a:r>
            <a:r>
              <a:rPr lang="ru-RU" sz="1600" dirty="0" err="1"/>
              <a:t>MockServer</a:t>
            </a:r>
            <a:r>
              <a:rPr lang="ru-RU" sz="1600" dirty="0"/>
              <a:t>, </a:t>
            </a:r>
            <a:r>
              <a:rPr lang="ru-RU" sz="1600" dirty="0" err="1"/>
              <a:t>Mountebank</a:t>
            </a:r>
            <a:r>
              <a:rPr lang="ru-RU" sz="1600" dirty="0"/>
              <a:t> не управляют инфраструктурой JAR/WAR-процессов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Apache </a:t>
            </a:r>
            <a:r>
              <a:rPr lang="ru-RU" sz="1600" dirty="0" err="1"/>
              <a:t>Tomcat</a:t>
            </a:r>
            <a:r>
              <a:rPr lang="ru-RU" sz="1600" dirty="0"/>
              <a:t> избыточен и не поддерживает динамический Rate </a:t>
            </a:r>
            <a:r>
              <a:rPr lang="ru-RU" sz="1600" dirty="0" err="1"/>
              <a:t>Limiting</a:t>
            </a:r>
            <a:r>
              <a:rPr lang="ru-RU" sz="1600" dirty="0"/>
              <a:t>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Все зарубежные решения косвенно совместимы с ОС Astra Linux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Вывод:</a:t>
            </a:r>
            <a:r>
              <a:rPr lang="ru-RU" sz="1600" dirty="0"/>
              <a:t> ни одно из существующих решений не закрывает задачу централизованного управления распределённой инфраструктурой заглушек в условиях импортозамещения</a:t>
            </a:r>
          </a:p>
        </p:txBody>
      </p:sp>
    </p:spTree>
    <p:extLst>
      <p:ext uri="{BB962C8B-B14F-4D97-AF65-F5344CB8AC3E}">
        <p14:creationId xmlns:p14="http://schemas.microsoft.com/office/powerpoint/2010/main" val="531669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Цель и задачи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Gilroy Bold" panose="00000800000000000000" pitchFamily="2" charset="-52"/>
                <a:ea typeface="+mj-ea"/>
                <a:cs typeface="+mj-cs"/>
              </a:rPr>
              <a:t> работы</a:t>
            </a:r>
            <a:endParaRPr lang="ru-RU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23877" y="1446895"/>
            <a:ext cx="11344245" cy="41052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b="1" dirty="0"/>
              <a:t>Цель:</a:t>
            </a:r>
            <a:r>
              <a:rPr lang="ru-RU" sz="1600" dirty="0"/>
              <a:t> спроектировать и разработать автоматизированную информационную систему для централизованного управления имитационными сервисами в среде нагрузочного тестирования и мониторинга их состояния.</a:t>
            </a:r>
          </a:p>
          <a:p>
            <a:pPr>
              <a:lnSpc>
                <a:spcPct val="150000"/>
              </a:lnSpc>
            </a:pPr>
            <a:endParaRPr lang="ru-RU" sz="1600" dirty="0"/>
          </a:p>
          <a:p>
            <a:pPr>
              <a:lnSpc>
                <a:spcPct val="150000"/>
              </a:lnSpc>
            </a:pPr>
            <a:r>
              <a:rPr lang="ru-RU" sz="1600" b="1" dirty="0"/>
              <a:t>Задачи:</a:t>
            </a:r>
            <a:endParaRPr lang="ru-RU" sz="1600" dirty="0"/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Провести анализ предметной области и существующих подходов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Спроектировать архитектуру программного комплекса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Обосновать выбор технологического стека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Разработать алгоритмы </a:t>
            </a:r>
            <a:r>
              <a:rPr lang="ru-RU" sz="1600" dirty="0" err="1"/>
              <a:t>проксирования</a:t>
            </a:r>
            <a:r>
              <a:rPr lang="ru-RU" sz="1600" dirty="0"/>
              <a:t>, Rate </a:t>
            </a:r>
            <a:r>
              <a:rPr lang="ru-RU" sz="1600" dirty="0" err="1"/>
              <a:t>Limiting</a:t>
            </a:r>
            <a:r>
              <a:rPr lang="ru-RU" sz="1600" dirty="0"/>
              <a:t> и API управления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Реализовать систему хранения конфигураций и контроля состояний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ru-RU" sz="1600" dirty="0"/>
              <a:t>Провести тестирование в среде ОС Astra Linux</a:t>
            </a:r>
          </a:p>
        </p:txBody>
      </p:sp>
    </p:spTree>
    <p:extLst>
      <p:ext uri="{BB962C8B-B14F-4D97-AF65-F5344CB8AC3E}">
        <p14:creationId xmlns:p14="http://schemas.microsoft.com/office/powerpoint/2010/main" val="403781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4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413512"/>
            <a:ext cx="82891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Анализ аналогов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97130" y="1564009"/>
            <a:ext cx="74349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Сравнительный анализ существующих решений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CB75CB1B-6AEB-C021-38CD-884737E09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053544"/>
              </p:ext>
            </p:extLst>
          </p:nvPr>
        </p:nvGraphicFramePr>
        <p:xfrm>
          <a:off x="497130" y="2135036"/>
          <a:ext cx="11197740" cy="315895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239548">
                  <a:extLst>
                    <a:ext uri="{9D8B030D-6E8A-4147-A177-3AD203B41FA5}">
                      <a16:colId xmlns:a16="http://schemas.microsoft.com/office/drawing/2014/main" val="221562262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193038394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1993197335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2629393087"/>
                    </a:ext>
                  </a:extLst>
                </a:gridCol>
                <a:gridCol w="2239548">
                  <a:extLst>
                    <a:ext uri="{9D8B030D-6E8A-4147-A177-3AD203B41FA5}">
                      <a16:colId xmlns:a16="http://schemas.microsoft.com/office/drawing/2014/main" val="3470350277"/>
                    </a:ext>
                  </a:extLst>
                </a:gridCol>
              </a:tblGrid>
              <a:tr h="339555">
                <a:tc>
                  <a:txBody>
                    <a:bodyPr/>
                    <a:lstStyle/>
                    <a:p>
                      <a:r>
                        <a:rPr lang="ru-RU" sz="1600"/>
                        <a:t>Критерий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WireMock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MockServer</a:t>
                      </a:r>
                      <a:endParaRPr lang="en-US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Apache Tomcat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Разраб. система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836299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Управление JAR/WAR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76040357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 dirty="0"/>
                        <a:t>Централизованная </a:t>
                      </a:r>
                      <a:r>
                        <a:rPr lang="ru-RU" sz="1600" dirty="0" err="1"/>
                        <a:t>оркестрация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54382769"/>
                  </a:ext>
                </a:extLst>
              </a:tr>
              <a:tr h="296462">
                <a:tc>
                  <a:txBody>
                    <a:bodyPr/>
                    <a:lstStyle/>
                    <a:p>
                      <a:r>
                        <a:rPr lang="ru-RU" sz="1600"/>
                        <a:t>Динамический </a:t>
                      </a:r>
                      <a:r>
                        <a:rPr lang="en-US" sz="1600"/>
                        <a:t>Rate Limiting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Нет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Да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09741136"/>
                  </a:ext>
                </a:extLst>
              </a:tr>
              <a:tr h="173788">
                <a:tc>
                  <a:txBody>
                    <a:bodyPr/>
                    <a:lstStyle/>
                    <a:p>
                      <a:r>
                        <a:rPr lang="ru-RU" sz="1600"/>
                        <a:t>Потребление ресурсов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 (</a:t>
                      </a:r>
                      <a:r>
                        <a:rPr lang="en-US" sz="1600"/>
                        <a:t>JVM)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Высокое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/>
                        <a:t>Низкое</a:t>
                      </a:r>
                      <a:endParaRPr lang="ru-RU" sz="160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334642467"/>
                  </a:ext>
                </a:extLst>
              </a:tr>
              <a:tr h="451845">
                <a:tc>
                  <a:txBody>
                    <a:bodyPr/>
                    <a:lstStyle/>
                    <a:p>
                      <a:r>
                        <a:rPr lang="ru-RU" sz="1600"/>
                        <a:t>Совместимость с </a:t>
                      </a:r>
                      <a:r>
                        <a:rPr lang="en-US" sz="1600"/>
                        <a:t>Astra Linux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/>
                        <a:t>Частично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r>
                        <a:rPr lang="ru-RU" sz="1600" b="1" dirty="0"/>
                        <a:t>Да</a:t>
                      </a:r>
                      <a:endParaRPr lang="ru-RU" sz="1600" dirty="0"/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360069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9017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5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339755" y="536629"/>
            <a:ext cx="1028251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Архитектура и технологический стек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475040"/>
            <a:ext cx="11344245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Выбрана монолитная архитектура с выраженной внутренней модульностью. Управление удалёнными хостами — через SSH/SFTP без установки агентов.</a:t>
            </a:r>
          </a:p>
          <a:p>
            <a:pPr>
              <a:lnSpc>
                <a:spcPct val="150000"/>
              </a:lnSpc>
            </a:pPr>
            <a:r>
              <a:rPr lang="ru-RU" sz="1600" b="1" dirty="0"/>
              <a:t>Технологический стек:</a:t>
            </a:r>
            <a:r>
              <a:rPr lang="ru-RU" sz="1600" dirty="0"/>
              <a:t> Python + </a:t>
            </a:r>
            <a:r>
              <a:rPr lang="ru-RU" sz="1600" dirty="0" err="1"/>
              <a:t>asyncio</a:t>
            </a:r>
            <a:r>
              <a:rPr lang="ru-RU" sz="1600" dirty="0"/>
              <a:t> / </a:t>
            </a:r>
            <a:r>
              <a:rPr lang="ru-RU" sz="1600" dirty="0" err="1"/>
              <a:t>FastAPI</a:t>
            </a:r>
            <a:r>
              <a:rPr lang="ru-RU" sz="1600" dirty="0"/>
              <a:t> + </a:t>
            </a:r>
            <a:r>
              <a:rPr lang="ru-RU" sz="1600" dirty="0" err="1"/>
              <a:t>Uvicorn</a:t>
            </a:r>
            <a:r>
              <a:rPr lang="ru-RU" sz="1600" dirty="0"/>
              <a:t> / </a:t>
            </a:r>
            <a:r>
              <a:rPr lang="ru-RU" sz="1600" dirty="0" err="1"/>
              <a:t>Redis</a:t>
            </a:r>
            <a:r>
              <a:rPr lang="ru-RU" sz="1600" dirty="0"/>
              <a:t> AOF / Astra Linux</a:t>
            </a:r>
          </a:p>
        </p:txBody>
      </p:sp>
      <p:pic>
        <p:nvPicPr>
          <p:cNvPr id="8" name="Рисунок 7" descr="Изображение выглядит как текст, снимок экрана, Шрифт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91AAAA8-EB26-EB61-1803-37F426256D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6" t="2623" r="1301" b="2469"/>
          <a:stretch/>
        </p:blipFill>
        <p:spPr>
          <a:xfrm>
            <a:off x="4135718" y="2625611"/>
            <a:ext cx="5693932" cy="3715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009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6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915296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Структуры данных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411698"/>
            <a:ext cx="1134424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Для каждого объекта системы используется </a:t>
            </a:r>
            <a:r>
              <a:rPr lang="ru-RU" sz="1600" dirty="0" err="1"/>
              <a:t>Hash</a:t>
            </a:r>
            <a:r>
              <a:rPr lang="ru-RU" sz="1600" dirty="0"/>
              <a:t>-запись — позволяет читать конфигурацию целиком за одну операцию HGETALL и обновлять отдельные поля через HSET без перезаписи всей записи. Бинарный файл заглушки хранится только на целевом хосте — передаётся по SFTP при регистрации и немедленно удаляется с управляющего сервера.</a:t>
            </a:r>
          </a:p>
        </p:txBody>
      </p:sp>
      <p:pic>
        <p:nvPicPr>
          <p:cNvPr id="8" name="Рисунок 7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D97ABA3-4301-9AF9-6B01-C31A20F5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2660" y="2566796"/>
            <a:ext cx="5446680" cy="3604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221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7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Топология развёртывания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457199" y="1466723"/>
            <a:ext cx="4001247" cy="3751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1600" dirty="0"/>
              <a:t>Система поддерживает два режима без изменения кодовой базы: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/>
              <a:t>Cluster Mode</a:t>
            </a:r>
            <a:r>
              <a:rPr lang="ru-RU" sz="1600" dirty="0"/>
              <a:t>: один управляющий узел координирует несколько удалённых хостов через SSH/SFTP</a:t>
            </a:r>
          </a:p>
          <a:p>
            <a:pPr marL="285750" indent="-285750">
              <a:lnSpc>
                <a:spcPct val="125000"/>
              </a:lnSpc>
              <a:buFont typeface="Arial" panose="020B0604020202020204" pitchFamily="34" charset="0"/>
              <a:buChar char="•"/>
            </a:pPr>
            <a:r>
              <a:rPr lang="ru-RU" sz="1600" b="1" dirty="0" err="1"/>
              <a:t>Standalone</a:t>
            </a:r>
            <a:r>
              <a:rPr lang="ru-RU" sz="1600" b="1" dirty="0"/>
              <a:t> Mode</a:t>
            </a:r>
            <a:r>
              <a:rPr lang="ru-RU" sz="1600" dirty="0"/>
              <a:t>: все компоненты на одном сервере</a:t>
            </a:r>
            <a:br>
              <a:rPr lang="ru-RU" sz="1600" dirty="0"/>
            </a:br>
            <a:r>
              <a:rPr lang="ru-RU" sz="1600" dirty="0"/>
              <a:t>На целевых хостах не требуется установка агентов — только SSH-сервер и </a:t>
            </a:r>
            <a:r>
              <a:rPr lang="ru-RU" sz="1600" dirty="0" err="1"/>
              <a:t>OpenJDK</a:t>
            </a:r>
            <a:r>
              <a:rPr lang="ru-RU" sz="1600" dirty="0"/>
              <a:t> 17.</a:t>
            </a:r>
          </a:p>
        </p:txBody>
      </p:sp>
      <p:pic>
        <p:nvPicPr>
          <p:cNvPr id="5" name="Рисунок 4" descr="Изображение выглядит как текст, снимок экрана, Шрифт, Параллель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FF6725E-7A65-7549-CB3D-7730642851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2552" y="1527096"/>
            <a:ext cx="6183700" cy="4246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7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8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Проксирование</a:t>
            </a:r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 и Rate </a:t>
            </a:r>
            <a:r>
              <a:rPr lang="ru-RU" sz="3200" dirty="0" err="1">
                <a:latin typeface="Gilroy Bold" panose="00000800000000000000" pitchFamily="2" charset="-52"/>
                <a:ea typeface="+mj-ea"/>
                <a:cs typeface="+mj-cs"/>
              </a:rPr>
              <a:t>Limiting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1195294" y="1659284"/>
            <a:ext cx="9801413" cy="781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Прокси-модуль прозрачно маршрутизирует запросы: сохраняет метод, заголовки и тело. 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ru-RU" sz="1600" dirty="0"/>
              <a:t>При превышении лимита возвращает HTTP 429, не нагружая заглушку.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DDA008-5FC4-78D9-955B-5FE9E4E256DE}"/>
              </a:ext>
            </a:extLst>
          </p:cNvPr>
          <p:cNvSpPr txBox="1"/>
          <p:nvPr/>
        </p:nvSpPr>
        <p:spPr>
          <a:xfrm>
            <a:off x="1195294" y="2772285"/>
            <a:ext cx="9801412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check_rate_limit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(filename: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limit: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window_size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1) -&gt;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</a:p>
          <a:p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Шаг 1: вычислить метку текущего окна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 = floor(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current_unix_timestamp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window_size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key = </a:t>
            </a:r>
            <a:r>
              <a:rPr lang="en-US" sz="1600" b="0" i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f"rate</a:t>
            </a:r>
            <a:r>
              <a:rPr lang="en-US" sz="1600" b="0" i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:{filename}:{window}"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Шаг 2: атомарный инкремент счётчика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count = INCR(key) </a:t>
            </a:r>
          </a:p>
          <a:p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Шаг 3: установить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TTL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 создании нового окна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 == 1: EXPIRE(key, </a:t>
            </a:r>
            <a:r>
              <a:rPr lang="en-US" sz="1600" b="0" i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window_size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2)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TTL = 2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окна (запас на сдвиг времени)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Шаг 4: проверить лимит</a:t>
            </a:r>
            <a:r>
              <a:rPr lang="ru-RU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sz="1600" b="0" i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 &gt; limit: </a:t>
            </a:r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запрос отклонён -&gt;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HTTP 429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sz="1600" b="0" i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600" b="0" i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запрос разрешён</a:t>
            </a:r>
            <a:endParaRPr lang="ru-RU" sz="1600" b="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339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9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Управление жизненным циклом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1863318" y="1561052"/>
            <a:ext cx="7751616" cy="3735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Запуск на удалённом хосте выполняется через SSH без установки агентов — командой </a:t>
            </a:r>
            <a:r>
              <a:rPr lang="ru-RU" sz="1600" dirty="0" err="1"/>
              <a:t>nohup</a:t>
            </a:r>
            <a:r>
              <a:rPr lang="ru-RU" sz="1600" dirty="0"/>
              <a:t>, PID возвращается в </a:t>
            </a:r>
            <a:r>
              <a:rPr lang="ru-RU" sz="1600" dirty="0" err="1"/>
              <a:t>stdout</a:t>
            </a:r>
            <a:r>
              <a:rPr lang="ru-RU" sz="1600" dirty="0"/>
              <a:t> и сохраняется в </a:t>
            </a:r>
            <a:r>
              <a:rPr lang="ru-RU" sz="1600" dirty="0" err="1"/>
              <a:t>Redis</a:t>
            </a:r>
            <a:r>
              <a:rPr lang="ru-RU" sz="1600" dirty="0"/>
              <a:t>.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Остановка реализует двухэтапный протокол: сначала SIGTERM, затем при отсутствии реакции в течение 5 секунд — SIGKILL. Оба этапа выполняются асинхронно, не блокируя обработку других запросов.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При перезапуске системы </a:t>
            </a:r>
            <a:r>
              <a:rPr lang="ru-RU" sz="1600" dirty="0" err="1"/>
              <a:t>restore_state</a:t>
            </a:r>
            <a:r>
              <a:rPr lang="ru-RU" sz="1600" dirty="0"/>
              <a:t> проверяет фактический PID каждой заглушки и автоматически перезапускает завершившиеся процессы с сохранёнными JVM-аргументами. </a:t>
            </a:r>
            <a:r>
              <a:rPr lang="ru-RU" sz="1600" dirty="0" err="1"/>
              <a:t>HealthChecker</a:t>
            </a:r>
            <a:r>
              <a:rPr lang="ru-RU" sz="1600" dirty="0"/>
              <a:t> обнаруживает сбой за ≤ 30 с.</a:t>
            </a:r>
          </a:p>
        </p:txBody>
      </p:sp>
    </p:spTree>
    <p:extLst>
      <p:ext uri="{BB962C8B-B14F-4D97-AF65-F5344CB8AC3E}">
        <p14:creationId xmlns:p14="http://schemas.microsoft.com/office/powerpoint/2010/main" val="872922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10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Веб-интерфейс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692660" y="1503233"/>
            <a:ext cx="9814179" cy="1150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Реализован на </a:t>
            </a:r>
            <a:r>
              <a:rPr lang="en-US" sz="1600" dirty="0"/>
              <a:t>Server-Side Rendering (</a:t>
            </a:r>
            <a:r>
              <a:rPr lang="en-US" sz="1600" dirty="0" err="1"/>
              <a:t>FastAPI</a:t>
            </a:r>
            <a:r>
              <a:rPr lang="en-US" sz="1600" dirty="0"/>
              <a:t> + Jinja2) </a:t>
            </a:r>
            <a:r>
              <a:rPr lang="ru-RU" sz="1600" dirty="0"/>
              <a:t>без внешних зависимостей. 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ru-RU" sz="1600" dirty="0"/>
              <a:t>Статус каждой заглушки кодируется цветом: 🟢 </a:t>
            </a:r>
            <a:r>
              <a:rPr lang="en-US" sz="1600" dirty="0"/>
              <a:t>RUNNING / </a:t>
            </a:r>
            <a:r>
              <a:rPr lang="ru-RU" sz="1600" dirty="0"/>
              <a:t>🟡 </a:t>
            </a:r>
            <a:r>
              <a:rPr lang="en-US" sz="1600" dirty="0"/>
              <a:t>STOPPED / </a:t>
            </a:r>
            <a:r>
              <a:rPr lang="ru-RU" sz="1600" dirty="0"/>
              <a:t>🔴 </a:t>
            </a:r>
            <a:r>
              <a:rPr lang="en-US" sz="1600" dirty="0"/>
              <a:t>ERROR. </a:t>
            </a:r>
            <a:endParaRPr lang="ru-RU" sz="1600" dirty="0"/>
          </a:p>
          <a:p>
            <a:pPr>
              <a:lnSpc>
                <a:spcPct val="150000"/>
              </a:lnSpc>
            </a:pPr>
            <a:r>
              <a:rPr lang="ru-RU" sz="1600" dirty="0"/>
              <a:t>Таблица обновляется автоматически каждые 5 секунд.</a:t>
            </a:r>
          </a:p>
        </p:txBody>
      </p:sp>
      <p:pic>
        <p:nvPicPr>
          <p:cNvPr id="5" name="Рисунок 4" descr="Изображение выглядит как снимок экрана, текст, программное обеспечение, Мультимедийное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C78FB8E-26D2-3DBB-7B5D-C2506D87F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894"/>
          <a:stretch/>
        </p:blipFill>
        <p:spPr>
          <a:xfrm>
            <a:off x="692660" y="3035007"/>
            <a:ext cx="10806680" cy="270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260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11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Функциональное тестирование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954880" y="1586177"/>
            <a:ext cx="49282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Результаты функционального тестирования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4333BB9-A0A9-AF68-A54E-4D37143EC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520182"/>
              </p:ext>
            </p:extLst>
          </p:nvPr>
        </p:nvGraphicFramePr>
        <p:xfrm>
          <a:off x="954880" y="2388879"/>
          <a:ext cx="10282239" cy="2743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4620904">
                  <a:extLst>
                    <a:ext uri="{9D8B030D-6E8A-4147-A177-3AD203B41FA5}">
                      <a16:colId xmlns:a16="http://schemas.microsoft.com/office/drawing/2014/main" val="1472585013"/>
                    </a:ext>
                  </a:extLst>
                </a:gridCol>
                <a:gridCol w="1719618">
                  <a:extLst>
                    <a:ext uri="{9D8B030D-6E8A-4147-A177-3AD203B41FA5}">
                      <a16:colId xmlns:a16="http://schemas.microsoft.com/office/drawing/2014/main" val="3833472201"/>
                    </a:ext>
                  </a:extLst>
                </a:gridCol>
                <a:gridCol w="3941717">
                  <a:extLst>
                    <a:ext uri="{9D8B030D-6E8A-4147-A177-3AD203B41FA5}">
                      <a16:colId xmlns:a16="http://schemas.microsoft.com/office/drawing/2014/main" val="253490974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Успешность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08259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Перезапуск при работающих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Статусы </a:t>
                      </a:r>
                      <a:r>
                        <a:rPr lang="en-US" sz="1600" dirty="0"/>
                        <a:t>RUNNING </a:t>
                      </a:r>
                      <a:r>
                        <a:rPr lang="ru-RU" sz="1600" dirty="0"/>
                        <a:t>сохранены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19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Перезапуск при завершённых процессах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Автоматический перезапуск заглушек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8414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 dirty="0"/>
                        <a:t>Восстановление после аварии </a:t>
                      </a:r>
                      <a:r>
                        <a:rPr lang="en-US" sz="16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Данные восстановлены из </a:t>
                      </a:r>
                      <a:r>
                        <a:rPr lang="en-US" sz="1600" dirty="0"/>
                        <a:t>AOF-</a:t>
                      </a:r>
                      <a:r>
                        <a:rPr lang="ru-RU" sz="1600" dirty="0"/>
                        <a:t>журнала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464643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Обнаружение сбоя планировщиком </a:t>
                      </a:r>
                      <a:r>
                        <a:rPr lang="en-US" sz="1600"/>
                        <a:t>HealthChecker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Статус ERROR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429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600"/>
                        <a:t>Автовозврат из ERROR в RUNNING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Статус RUNNING за ≤ 30 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126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6337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12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>
                <a:latin typeface="Gilroy Bold" panose="00000800000000000000" pitchFamily="2" charset="-52"/>
                <a:ea typeface="+mj-ea"/>
                <a:cs typeface="+mj-cs"/>
              </a:rPr>
              <a:t>Нагрузочное тестирование</a:t>
            </a:r>
            <a:endParaRPr lang="ru-RU" sz="3200" dirty="0">
              <a:latin typeface="Gilroy Bold" panose="00000800000000000000" pitchFamily="2" charset="-52"/>
              <a:ea typeface="+mj-ea"/>
              <a:cs typeface="+mj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954880" y="1593430"/>
            <a:ext cx="10729120" cy="781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Результаты нагрузочного тестирования прокси-модуля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Инструмент: k6. Наблюдение через </a:t>
            </a:r>
            <a:r>
              <a:rPr lang="ru-RU" sz="1600" dirty="0" err="1"/>
              <a:t>эндпоинт</a:t>
            </a:r>
            <a:r>
              <a:rPr lang="ru-RU" sz="1600" dirty="0"/>
              <a:t> /</a:t>
            </a:r>
            <a:r>
              <a:rPr lang="ru-RU" sz="1600" dirty="0" err="1"/>
              <a:t>metrics</a:t>
            </a:r>
            <a:r>
              <a:rPr lang="ru-RU" sz="1600" dirty="0"/>
              <a:t> (</a:t>
            </a:r>
            <a:r>
              <a:rPr lang="ru-RU" sz="1600" dirty="0" err="1"/>
              <a:t>Prometheus</a:t>
            </a:r>
            <a:r>
              <a:rPr lang="ru-RU" sz="1600" dirty="0"/>
              <a:t>).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9E7AA6F9-7395-8004-5D71-C8FCE9E11A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514608"/>
              </p:ext>
            </p:extLst>
          </p:nvPr>
        </p:nvGraphicFramePr>
        <p:xfrm>
          <a:off x="954880" y="2707554"/>
          <a:ext cx="10282239" cy="265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427413">
                  <a:extLst>
                    <a:ext uri="{9D8B030D-6E8A-4147-A177-3AD203B41FA5}">
                      <a16:colId xmlns:a16="http://schemas.microsoft.com/office/drawing/2014/main" val="4246277828"/>
                    </a:ext>
                  </a:extLst>
                </a:gridCol>
                <a:gridCol w="3427413">
                  <a:extLst>
                    <a:ext uri="{9D8B030D-6E8A-4147-A177-3AD203B41FA5}">
                      <a16:colId xmlns:a16="http://schemas.microsoft.com/office/drawing/2014/main" val="3350268425"/>
                    </a:ext>
                  </a:extLst>
                </a:gridCol>
                <a:gridCol w="3427413">
                  <a:extLst>
                    <a:ext uri="{9D8B030D-6E8A-4147-A177-3AD203B41FA5}">
                      <a16:colId xmlns:a16="http://schemas.microsoft.com/office/drawing/2014/main" val="3905350028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lang="ru-RU" sz="1800"/>
                        <a:t>Сценарий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 dirty="0"/>
                        <a:t>Показатель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Результат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352924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ru-RU" sz="1800"/>
                        <a:t>Базовая нагрузка (10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proxy_total_ms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3,90 мс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5834927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ru-RU" sz="1800"/>
                        <a:t>Нарастающая нагрузка (500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dirty="0" err="1"/>
                        <a:t>proxy_total_ms</a:t>
                      </a:r>
                      <a:endParaRPr lang="en-US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3,01 мс — линейный рост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7857546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ru-RU" sz="1800"/>
                        <a:t>Нарастающая нагрузка (1000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proxy_total_ms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10,52 мс — без отказов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305141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r>
                        <a:rPr lang="en-US" sz="1800"/>
                        <a:t>Rate Limiting (</a:t>
                      </a:r>
                      <a:r>
                        <a:rPr lang="ru-RU" sz="1800"/>
                        <a:t>лимит 250, нагрузка 500 </a:t>
                      </a:r>
                      <a:r>
                        <a:rPr lang="en-US" sz="1800"/>
                        <a:t>RPS)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/>
                        <a:t>Отклонение от лимита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sz="1800" b="1" dirty="0"/>
                        <a:t>0,13%</a:t>
                      </a:r>
                      <a:endParaRPr lang="ru-RU" sz="1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99243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9820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Прямая соединительная линия 5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1580453" y="6171414"/>
            <a:ext cx="409963" cy="610899"/>
          </a:xfrm>
        </p:spPr>
        <p:txBody>
          <a:bodyPr/>
          <a:lstStyle/>
          <a:p>
            <a:fld id="{A01BE76D-E181-4177-862E-40D97C82BFEB}" type="slidenum">
              <a:rPr lang="ru-RU" sz="3200" smtClean="0"/>
              <a:t>13</a:t>
            </a:fld>
            <a:endParaRPr lang="ru-RU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8C6BD-D95E-4822-B09A-435E67225EB0}"/>
              </a:ext>
            </a:extLst>
          </p:cNvPr>
          <p:cNvSpPr txBox="1"/>
          <p:nvPr/>
        </p:nvSpPr>
        <p:spPr>
          <a:xfrm>
            <a:off x="339755" y="6178253"/>
            <a:ext cx="10798742" cy="692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МЕДВЕДЕВ КЛИМ НИКОЛАЕВИЧ, 221-329</a:t>
            </a:r>
            <a:r>
              <a:rPr lang="ru-RU" sz="1100" dirty="0">
                <a:solidFill>
                  <a:prstClr val="black"/>
                </a:solidFill>
                <a:latin typeface="Gilroy Medium" panose="00000600000000000000" charset="-52"/>
              </a:rPr>
              <a:t>,</a:t>
            </a:r>
            <a:r>
              <a:rPr kumimoji="0" lang="ru-RU" sz="11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 04.06.2026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РАЗРАБОТКА СИСТЕМЫ ДЛЯ ПРОКСИРОВАНИЯ И МОНИТОРИНГА ИМИТАЦИОННЫХ СЕРВИСОВ В СРЕДЕ НАГРУЗОЧНОГО ТЕСТИРОВАНИЯ</a:t>
            </a:r>
          </a:p>
          <a:p>
            <a:pPr marL="0" marR="0" lvl="0" indent="0" algn="l" defTabSz="914400" rtl="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roy Medium" panose="00000600000000000000" charset="-52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69E9A5-0F30-46EE-BA6A-78421B32F98B}"/>
              </a:ext>
            </a:extLst>
          </p:cNvPr>
          <p:cNvSpPr txBox="1"/>
          <p:nvPr/>
        </p:nvSpPr>
        <p:spPr>
          <a:xfrm>
            <a:off x="457200" y="537255"/>
            <a:ext cx="664561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dirty="0">
                <a:latin typeface="Gilroy Bold" panose="00000800000000000000" pitchFamily="2" charset="-52"/>
                <a:ea typeface="+mj-ea"/>
                <a:cs typeface="+mj-cs"/>
              </a:rPr>
              <a:t>Результаты работы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A6AEEB-6479-6AF6-ED4B-A834C62D6DE6}"/>
              </a:ext>
            </a:extLst>
          </p:cNvPr>
          <p:cNvSpPr txBox="1"/>
          <p:nvPr/>
        </p:nvSpPr>
        <p:spPr>
          <a:xfrm>
            <a:off x="339755" y="1659285"/>
            <a:ext cx="11344245" cy="3735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dirty="0"/>
              <a:t>Все 6 задач выполнены в полном объёме. 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Разработан программный комплекс, не имеющий прямых аналогов среди существующих решений.</a:t>
            </a:r>
          </a:p>
          <a:p>
            <a:pPr>
              <a:lnSpc>
                <a:spcPct val="150000"/>
              </a:lnSpc>
            </a:pPr>
            <a:r>
              <a:rPr lang="ru-RU" sz="1600" dirty="0"/>
              <a:t>Ключевые характеристики: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Задержка прокси: ≤ 3,01 мс при нагрузке до 500 RPS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Точность Rate </a:t>
            </a:r>
            <a:r>
              <a:rPr lang="ru-RU" sz="1600" dirty="0" err="1"/>
              <a:t>Limiting</a:t>
            </a:r>
            <a:r>
              <a:rPr lang="ru-RU" sz="1600" dirty="0"/>
              <a:t>: отклонение 0,13% от теоретического лимита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Время обнаружения сбоя: ≤ 30 с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Научная новизна: </a:t>
            </a:r>
            <a:r>
              <a:rPr lang="ru-RU" sz="1600" dirty="0" err="1"/>
              <a:t>агентно</a:t>
            </a:r>
            <a:r>
              <a:rPr lang="ru-RU" sz="1600" dirty="0"/>
              <a:t>-независимое управление распределённой средой заглушек с индивидуальным Rate </a:t>
            </a:r>
            <a:r>
              <a:rPr lang="ru-RU" sz="1600" dirty="0" err="1"/>
              <a:t>Limiting</a:t>
            </a:r>
            <a:r>
              <a:rPr lang="ru-RU" sz="1600" dirty="0"/>
              <a:t> для каждого сервиса без перезапуска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dirty="0"/>
              <a:t>Направления развития: динамическая маршрутизация по содержимому запроса, ролевая модель доступа, поддержка не-JVM артефактов</a:t>
            </a:r>
          </a:p>
        </p:txBody>
      </p:sp>
    </p:spTree>
    <p:extLst>
      <p:ext uri="{BB962C8B-B14F-4D97-AF65-F5344CB8AC3E}">
        <p14:creationId xmlns:p14="http://schemas.microsoft.com/office/powerpoint/2010/main" val="195036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Прямая соединительная линия 3"/>
          <p:cNvCxnSpPr/>
          <p:nvPr/>
        </p:nvCxnSpPr>
        <p:spPr>
          <a:xfrm>
            <a:off x="0" y="0"/>
            <a:ext cx="914400" cy="0"/>
          </a:xfrm>
          <a:prstGeom prst="line">
            <a:avLst/>
          </a:prstGeom>
          <a:ln w="0" cap="flat" cmpd="sng" algn="ctr">
            <a:solidFill>
              <a:srgbClr val="FBFFFF"/>
            </a:solidFill>
            <a:prstDash val="solid"/>
            <a:miter lim="800000"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rotWithShape="0">
                    <a:scrgbClr r="0" g="0" b="0"/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8D64222-1292-4A23-A829-4D7C56BB71FE}"/>
              </a:ext>
            </a:extLst>
          </p:cNvPr>
          <p:cNvSpPr txBox="1"/>
          <p:nvPr/>
        </p:nvSpPr>
        <p:spPr>
          <a:xfrm>
            <a:off x="4537880" y="723037"/>
            <a:ext cx="765411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  <a:ea typeface="+mj-ea"/>
                <a:cs typeface="+mj-cs"/>
              </a:rPr>
              <a:t>Спасибо за внимание!</a:t>
            </a:r>
            <a:endParaRPr lang="ru-RU" sz="2800" dirty="0">
              <a:latin typeface="Gilroy Medium" panose="00000600000000000000" charset="-5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AA36A-0422-46F0-BA3A-4B2EF754C329}"/>
              </a:ext>
            </a:extLst>
          </p:cNvPr>
          <p:cNvSpPr txBox="1"/>
          <p:nvPr/>
        </p:nvSpPr>
        <p:spPr>
          <a:xfrm>
            <a:off x="76899" y="2951946"/>
            <a:ext cx="118872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РАЗРАБОТКА СИСТЕМЫ ДЛЯ ПРОКСИРОВАНИЯ И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МОНИТОРИНГА ИМИТАЦИОННЫХ СЕРВИСОВ В СРЕДЕ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Bold" panose="00000800000000000000" charset="-52"/>
                <a:ea typeface="+mn-ea"/>
                <a:cs typeface="+mn-cs"/>
              </a:rPr>
              <a:t>НАГРУЗОЧНОГО ТЕСТИРОВАНИЯ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8C808-D44B-4FFB-A9B8-91FA34E1C60F}"/>
              </a:ext>
            </a:extLst>
          </p:cNvPr>
          <p:cNvSpPr txBox="1"/>
          <p:nvPr/>
        </p:nvSpPr>
        <p:spPr>
          <a:xfrm>
            <a:off x="7373922" y="4597930"/>
            <a:ext cx="422175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Студент: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Медведев Клим Николаевич,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группа 221-329.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>
                <a:latin typeface="Gilroy Medium" panose="00000600000000000000" charset="-52"/>
              </a:rPr>
              <a:t>Научный руководитель: 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sz="1800" dirty="0" err="1">
                <a:latin typeface="Gilroy Medium" panose="00000600000000000000" charset="-52"/>
              </a:rPr>
              <a:t>Кружалов</a:t>
            </a:r>
            <a:r>
              <a:rPr lang="ru-RU" sz="1800" dirty="0">
                <a:latin typeface="Gilroy Medium" panose="00000600000000000000" charset="-52"/>
              </a:rPr>
              <a:t> Алексей Сергеевич,</a:t>
            </a:r>
          </a:p>
          <a:p>
            <a:pPr algn="r">
              <a:lnSpc>
                <a:spcPts val="2000"/>
              </a:lnSpc>
              <a:spcBef>
                <a:spcPts val="0"/>
              </a:spcBef>
            </a:pPr>
            <a:r>
              <a:rPr lang="ru-RU" dirty="0">
                <a:latin typeface="Gilroy Medium" panose="00000600000000000000" charset="-52"/>
              </a:rPr>
              <a:t>с</a:t>
            </a:r>
            <a:r>
              <a:rPr lang="ru-RU" sz="1800" dirty="0">
                <a:latin typeface="Gilroy Medium" panose="00000600000000000000" charset="-52"/>
              </a:rPr>
              <a:t>тарший преп</a:t>
            </a:r>
            <a:r>
              <a:rPr lang="ru-RU" dirty="0">
                <a:latin typeface="Gilroy Medium" panose="00000600000000000000" charset="-52"/>
              </a:rPr>
              <a:t>одаватель.</a:t>
            </a:r>
            <a:endParaRPr lang="ru-RU" sz="1800" dirty="0">
              <a:solidFill>
                <a:schemeClr val="tx1"/>
              </a:solidFill>
              <a:latin typeface="Gilroy Medium" panose="00000600000000000000" charset="-5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E4B5EE-80E5-44C9-B29C-37CD3F69DA42}"/>
              </a:ext>
            </a:extLst>
          </p:cNvPr>
          <p:cNvSpPr txBox="1"/>
          <p:nvPr/>
        </p:nvSpPr>
        <p:spPr>
          <a:xfrm>
            <a:off x="4782071" y="6353372"/>
            <a:ext cx="225034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roy Medium" panose="00000600000000000000" charset="-52"/>
              </a:rPr>
              <a:t>Москва, 4 июня 2026</a:t>
            </a:r>
          </a:p>
        </p:txBody>
      </p:sp>
    </p:spTree>
    <p:extLst>
      <p:ext uri="{BB962C8B-B14F-4D97-AF65-F5344CB8AC3E}">
        <p14:creationId xmlns:p14="http://schemas.microsoft.com/office/powerpoint/2010/main" val="317611758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2">
  <a:themeElements>
    <a:clrScheme name="Московский Политех">
      <a:dk1>
        <a:sysClr val="windowText" lastClr="000000"/>
      </a:dk1>
      <a:lt1>
        <a:sysClr val="window" lastClr="FFFFFF"/>
      </a:lt1>
      <a:dk2>
        <a:srgbClr val="171616"/>
      </a:dk2>
      <a:lt2>
        <a:srgbClr val="E7E6E6"/>
      </a:lt2>
      <a:accent1>
        <a:srgbClr val="E61E46"/>
      </a:accent1>
      <a:accent2>
        <a:srgbClr val="1E3E8D"/>
      </a:accent2>
      <a:accent3>
        <a:srgbClr val="A5A5A5"/>
      </a:accent3>
      <a:accent4>
        <a:srgbClr val="60DCCA"/>
      </a:accent4>
      <a:accent5>
        <a:srgbClr val="3478BC"/>
      </a:accent5>
      <a:accent6>
        <a:srgbClr val="E94572"/>
      </a:accent6>
      <a:hlink>
        <a:srgbClr val="3478BC"/>
      </a:hlink>
      <a:folHlink>
        <a:srgbClr val="E94572"/>
      </a:folHlink>
    </a:clrScheme>
    <a:fontScheme name="Другая 2">
      <a:majorFont>
        <a:latin typeface="Verdana "/>
        <a:ea typeface=""/>
        <a:cs typeface=""/>
      </a:majorFont>
      <a:minorFont>
        <a:latin typeface="Verdana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6" id="{2AEEDDF9-59ED-463C-8E0C-BF21DC8B3CB6}" vid="{CDD37877-5C07-4AD6-AFB2-357C367BDEC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Shablon_Moscow_Poly_v3</Template>
  <TotalTime>646</TotalTime>
  <Words>1186</Words>
  <Application>Microsoft Office PowerPoint</Application>
  <PresentationFormat>Широкоэкранный</PresentationFormat>
  <Paragraphs>202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Gilroy Medium</vt:lpstr>
      <vt:lpstr>Verdana</vt:lpstr>
      <vt:lpstr>Arial</vt:lpstr>
      <vt:lpstr>Consolas</vt:lpstr>
      <vt:lpstr>Calibri</vt:lpstr>
      <vt:lpstr>Gilroy Bold</vt:lpstr>
      <vt:lpstr>Тема2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Veronika Natur</dc:creator>
  <cp:lastModifiedBy>Клим Медведев</cp:lastModifiedBy>
  <cp:revision>41</cp:revision>
  <dcterms:created xsi:type="dcterms:W3CDTF">2024-05-27T20:04:35Z</dcterms:created>
  <dcterms:modified xsi:type="dcterms:W3CDTF">2026-05-17T09:13:22Z</dcterms:modified>
</cp:coreProperties>
</file>
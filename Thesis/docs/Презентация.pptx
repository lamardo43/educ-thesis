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6" r:id="rId1"/>
  </p:sldMasterIdLst>
  <p:notesMasterIdLst>
    <p:notesMasterId r:id="rId15"/>
  </p:notesMasterIdLst>
  <p:sldIdLst>
    <p:sldId id="256" r:id="rId2"/>
    <p:sldId id="257" r:id="rId3"/>
    <p:sldId id="262" r:id="rId4"/>
    <p:sldId id="264" r:id="rId5"/>
    <p:sldId id="265" r:id="rId6"/>
    <p:sldId id="263" r:id="rId7"/>
    <p:sldId id="266" r:id="rId8"/>
    <p:sldId id="267" r:id="rId9"/>
    <p:sldId id="268" r:id="rId10"/>
    <p:sldId id="269" r:id="rId11"/>
    <p:sldId id="271" r:id="rId12"/>
    <p:sldId id="270" r:id="rId13"/>
    <p:sldId id="258" r:id="rId14"/>
  </p:sldIdLst>
  <p:sldSz cx="12192000" cy="6858000"/>
  <p:notesSz cx="6858000" cy="9144000"/>
  <p:embeddedFontLst>
    <p:embeddedFont>
      <p:font typeface="Gilroy Bold" panose="00000800000000000000" charset="-52"/>
      <p:bold r:id="rId16"/>
    </p:embeddedFont>
    <p:embeddedFont>
      <p:font typeface="Gilroy Medium" panose="00000600000000000000" charset="-52"/>
      <p:regular r:id="rId17"/>
    </p:embeddedFont>
    <p:embeddedFont>
      <p:font typeface="Verdana" panose="020B0604030504040204" pitchFamily="34" charset="0"/>
      <p:regular r:id="rId18"/>
      <p:bold r:id="rId19"/>
      <p:italic r:id="rId20"/>
      <p:boldItalic r:id="rId2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2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9DC91-30C7-46AB-ADDB-A80A0533D77A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6BEC5-E5BF-4073-B59F-AF429BC831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94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88304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7204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4706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89589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61775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26475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02188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35860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272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6335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1125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2913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39528" y="2001837"/>
            <a:ext cx="10087276" cy="1508125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039528" y="4129238"/>
            <a:ext cx="10087276" cy="11285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097" y="5654764"/>
            <a:ext cx="2860213" cy="1632459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 userDrawn="1"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7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59430"/>
            <a:ext cx="10281557" cy="3649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D3C23-8038-4008-B24E-40A94D79456D}" type="datetime1">
              <a:rPr lang="ru-RU" smtClean="0"/>
              <a:t>09.05.2026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080171" y="5698671"/>
            <a:ext cx="1787979" cy="1047296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370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8779" y="1286227"/>
            <a:ext cx="10087276" cy="215961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8779" y="4165953"/>
            <a:ext cx="10087276" cy="14455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2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993084" y="5390016"/>
            <a:ext cx="1828800" cy="1331459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252357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3543300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DD92-CC98-4900-BE8A-2068547BBC1A}" type="datetime1">
              <a:rPr lang="ru-RU" smtClean="0"/>
              <a:t>09.05.2026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800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92085"/>
            <a:ext cx="420574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702379"/>
            <a:ext cx="420574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372100" y="1992085"/>
            <a:ext cx="432707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372100" y="2702379"/>
            <a:ext cx="432707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38898-160C-4747-9301-0B5702FA49D8}" type="datetime1">
              <a:rPr lang="ru-RU" smtClean="0"/>
              <a:t>09.05.2026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859383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36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B16F-DABE-4712-B47F-7722E1CB50FE}" type="datetime1">
              <a:rPr lang="ru-RU" smtClean="0"/>
              <a:t>09.05.2026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0327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EA22-9938-4273-8C60-D80B349E4BA9}" type="datetime1">
              <a:rPr lang="ru-RU" smtClean="0"/>
              <a:t>09.05.2026</a:t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0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66859" y="1281339"/>
            <a:ext cx="4898069" cy="45876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790B-F35A-4C90-BC4A-BA7F77964CA4}" type="datetime1">
              <a:rPr lang="ru-RU" smtClean="0"/>
              <a:t>09.05.2026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8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1273629"/>
            <a:ext cx="5823902" cy="41120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3283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EF080-AA0F-44FA-BA62-A56D8619F7E7}" type="datetime1">
              <a:rPr lang="ru-RU" smtClean="0"/>
              <a:t>09.05.2026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0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 title="0"/>
          <p:cNvSpPr>
            <a:spLocks noGrp="1" noChangeAspect="1"/>
          </p:cNvSpPr>
          <p:nvPr>
            <p:ph type="sldNum" sz="quarter" idx="4"/>
          </p:nvPr>
        </p:nvSpPr>
        <p:spPr>
          <a:xfrm>
            <a:off x="10076358" y="5731329"/>
            <a:ext cx="1787978" cy="107189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>
              <a:defRPr sz="9600" b="0" i="0" baseline="0">
                <a:solidFill>
                  <a:schemeClr val="bg2">
                    <a:lumMod val="90000"/>
                  </a:schemeClr>
                </a:solidFill>
                <a:latin typeface="Gilroy Medium" panose="00000600000000000000" pitchFamily="2" charset="-52"/>
              </a:defRPr>
            </a:lvl1pPr>
          </a:lstStyle>
          <a:p>
            <a:fld id="{A01BE76D-E181-4177-862E-40D97C82BFEB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959429"/>
            <a:ext cx="10281557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B8CDF-4973-4195-91CA-18BA11F1D400}" type="datetime1">
              <a:rPr lang="ru-RU" smtClean="0"/>
              <a:t>09.05.2026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68" y="200819"/>
            <a:ext cx="1489158" cy="10531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55171"/>
            <a:ext cx="8877300" cy="11355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Gilroy Bold" panose="000008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067954" y="723037"/>
            <a:ext cx="812404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ВЫПУСКНАЯ КВАЛИФИКАЦИОННАЯ РАБОТА</a:t>
            </a:r>
          </a:p>
          <a:p>
            <a:pPr algn="ctr"/>
            <a:endParaRPr kumimoji="0" lang="ru-R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lang="ru-RU" dirty="0">
                <a:latin typeface="Gilroy Medium" panose="00000600000000000000" charset="-52"/>
              </a:rPr>
              <a:t>по направлению 09.03.01 Информатика и вычислительная техника</a:t>
            </a:r>
          </a:p>
          <a:p>
            <a:pPr algn="ctr"/>
            <a:r>
              <a:rPr lang="ru-RU" dirty="0">
                <a:latin typeface="Gilroy Medium" panose="00000600000000000000" charset="-52"/>
              </a:rPr>
              <a:t>Образовательная программа (профиль) «Веб-технологии»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 </a:t>
            </a:r>
            <a:r>
              <a:rPr lang="ru-RU" sz="1800" dirty="0">
                <a:solidFill>
                  <a:schemeClr val="tx1"/>
                </a:solidFill>
                <a:latin typeface="Gilroy Medium" panose="00000600000000000000" charset="-52"/>
              </a:rPr>
              <a:t>к.т.н.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91641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4" y="6232725"/>
            <a:ext cx="8434457" cy="488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ИВАНОВ ИВАН ИВАНОВИЧ,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 201-321,  04.06.2024</a:t>
            </a: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ВЕБ-ПРИЛОЖЕНИЯ ДЛЯ БРОНИРОВАНИЯ ТЕННИСНЫХ КОРТОВ В СПРОТКЛУБЕ 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СМЭШ</a:t>
            </a: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                   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339754" y="353566"/>
            <a:ext cx="44797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Bold" panose="00000800000000000000" pitchFamily="2" charset="-52"/>
                <a:ea typeface="+mj-ea"/>
                <a:cs typeface="+mj-cs"/>
              </a:rPr>
              <a:t>Актуальность работы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0857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16986" y="6186956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3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244509"/>
            <a:ext cx="53815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schemeClr val="bg2">
                    <a:lumMod val="25000"/>
                  </a:schemeClr>
                </a:solidFill>
                <a:latin typeface="Gilroy Bold" panose="00000800000000000000" pitchFamily="2" charset="-52"/>
                <a:ea typeface="+mj-ea"/>
                <a:cs typeface="+mj-cs"/>
              </a:rPr>
              <a:t>Цели и задачи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Gilroy Bold" panose="00000800000000000000" pitchFamily="2" charset="-52"/>
                <a:ea typeface="+mj-ea"/>
                <a:cs typeface="+mj-cs"/>
              </a:rPr>
              <a:t> работы</a:t>
            </a:r>
            <a:endParaRPr lang="ru-RU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18230" y="6249101"/>
            <a:ext cx="10916724" cy="486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ИВАНОВ ИВАН ИВАНОВИЧ,  201-321,  04.06.2024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 ВЕБ-ПРИЛОЖЕНИЯ  ДЛЯ  БРОНИРОВАНИЯ  ТЕННИСНЫХ  КОРТОВ  В  СПРОТКЛУБЕ  СМЭШ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394729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463007" y="6134487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4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244509"/>
            <a:ext cx="53815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prstClr val="black"/>
                </a:solidFill>
                <a:latin typeface="Gilroy Bold" panose="00000800000000000000" pitchFamily="2" charset="-52"/>
                <a:ea typeface="+mj-ea"/>
                <a:cs typeface="+mj-cs"/>
              </a:rPr>
              <a:t>Заголовок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BBE14B-182A-4966-B033-9B3029F87F3A}"/>
              </a:ext>
            </a:extLst>
          </p:cNvPr>
          <p:cNvSpPr txBox="1"/>
          <p:nvPr/>
        </p:nvSpPr>
        <p:spPr>
          <a:xfrm>
            <a:off x="319030" y="6261920"/>
            <a:ext cx="7633733" cy="48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ИВАНОВ ИВАН ИВАНОВИЧ,  201-321, 04.06.2024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 ВЕБ-ПРИЛОЖЕНИЯ  ДЛЯ  БРОНИРОВАНИЯ  ТЕННИСНЫХ  КОРТОВ  В  СПРОТКЛУБЕ  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СМЭШ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763263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463007" y="6134487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5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244509"/>
            <a:ext cx="53815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prstClr val="black"/>
                </a:solidFill>
                <a:latin typeface="Gilroy Bold" panose="00000800000000000000" pitchFamily="2" charset="-52"/>
                <a:ea typeface="+mj-ea"/>
                <a:cs typeface="+mj-cs"/>
              </a:rPr>
              <a:t>Заголовок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19030" y="6241022"/>
            <a:ext cx="10916724" cy="486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ИВАНОВ ИВАН ИВАНОВИЧ,  201-321,  04.06.2024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РАЗРАБОТКА ВЕБ-ПРИЛОЖЕНИЯ ДЛЯ БРОНИРОВАНИЯ ТЕННИСНЫХ КОРТОВ В СПРОТКЛУБЕ СМЭШ</a:t>
            </a: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9086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483431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6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313491" y="512061"/>
            <a:ext cx="11169940" cy="823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ru-RU" sz="3200" dirty="0">
                <a:solidFill>
                  <a:prstClr val="black"/>
                </a:solidFill>
                <a:latin typeface="Gilroy Bold" panose="00000800000000000000" pitchFamily="2" charset="-52"/>
                <a:ea typeface="+mj-ea"/>
                <a:cs typeface="+mj-cs"/>
              </a:rPr>
              <a:t>Программные и технические средства </a:t>
            </a:r>
          </a:p>
          <a:p>
            <a:pPr>
              <a:lnSpc>
                <a:spcPts val="2800"/>
              </a:lnSpc>
            </a:pPr>
            <a:r>
              <a:rPr lang="ru-RU" sz="3200" dirty="0">
                <a:solidFill>
                  <a:prstClr val="black"/>
                </a:solidFill>
                <a:latin typeface="Gilroy Bold" panose="00000800000000000000" pitchFamily="2" charset="-52"/>
                <a:ea typeface="+mj-ea"/>
                <a:cs typeface="+mj-cs"/>
              </a:rPr>
              <a:t>разработки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292519" y="6236733"/>
            <a:ext cx="10916724" cy="487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ИВАНОВ ИВАН ИВАНОВИЧ,  201-321,  04.06.2024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ВЕБ-ПРИЛОЖЕНИЯ ДЛЯ БРОНИРОВАНИЯ ТЕННИСНЫХ КОРТОВ В СПРОТКЛУБЕ СМЭШ</a:t>
            </a: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541201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463007" y="6134487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7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244509"/>
            <a:ext cx="53815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prstClr val="black"/>
                </a:solidFill>
                <a:latin typeface="Gilroy Bold" panose="00000800000000000000" pitchFamily="2" charset="-52"/>
                <a:ea typeface="+mj-ea"/>
                <a:cs typeface="+mj-cs"/>
              </a:rPr>
              <a:t>Заголовок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210669" y="6220736"/>
            <a:ext cx="10916724" cy="486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ИВАНОВ ИВАН ИВАНОВИЧ,  201-321,  04.06.2024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ВЕБ-ПРИЛОЖЕНИЯ ДЛЯ БРОНИРОВАНИЯ ТЕННИСНЫХ КОРТОВ В СПРОТКЛУБЕ СМЭШ</a:t>
            </a: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17689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463007" y="6134487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8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244509"/>
            <a:ext cx="53815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prstClr val="black"/>
                </a:solidFill>
                <a:latin typeface="Gilroy Bold" panose="00000800000000000000" pitchFamily="2" charset="-52"/>
                <a:ea typeface="+mj-ea"/>
                <a:cs typeface="+mj-cs"/>
              </a:rPr>
              <a:t>Заголовок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206509" y="6224338"/>
            <a:ext cx="10916724" cy="487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ИВАНОВ ИВАН ИВАНОВИЧ,  201-321,  04.06.2024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ВЕБ-ПРИЛОЖЕНИЯ ДЛЯ БРОНИРОВАНИЯ ТЕННИСНЫХ КОРТОВ В СПРОТКЛУБЕ СМЭШ</a:t>
            </a: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248766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463007" y="6134487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9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244509"/>
            <a:ext cx="53815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prstClr val="black"/>
                </a:solidFill>
                <a:latin typeface="Gilroy Bold" panose="00000800000000000000" pitchFamily="2" charset="-52"/>
                <a:ea typeface="+mj-ea"/>
                <a:cs typeface="+mj-cs"/>
              </a:rPr>
              <a:t>Заголовок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272891" y="6173172"/>
            <a:ext cx="10916724" cy="487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ИВАНОВ ИВАН ИВАНОВИЧ,  201-321,  04.06.2024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ВЕБ-ПРИЛОЖЕНИЯ ДЛЯ БРОНИРОВАНИЯ ТЕННИСНЫХ КОРТОВ В СПРОТКЛУБЕ СМЭШ</a:t>
            </a: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523348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308360" y="6212686"/>
            <a:ext cx="656889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10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244509"/>
            <a:ext cx="53815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prstClr val="black"/>
                </a:solidFill>
                <a:latin typeface="Gilroy Bold" panose="00000800000000000000" pitchFamily="2" charset="-52"/>
                <a:ea typeface="+mj-ea"/>
                <a:cs typeface="+mj-cs"/>
              </a:rPr>
              <a:t>Заголовок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226751" y="6203808"/>
            <a:ext cx="10916724" cy="486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ИВАНОВ ИВАН ИВАНОВИЧ,  201-321,  04.06.2024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РАЗРАБОТКА ВЕБ-ПРИЛОЖЕНИЯ ДЛЯ БРОНИРОВАНИЯ ТЕННИСНЫХ КОРТОВ В СПРОТКЛУБЕ СМЭШ</a:t>
            </a: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828556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299972" y="6186955"/>
            <a:ext cx="811536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11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244509"/>
            <a:ext cx="53815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prstClr val="black"/>
                </a:solidFill>
                <a:latin typeface="Gilroy Bold" panose="00000800000000000000" pitchFamily="2" charset="-52"/>
                <a:ea typeface="+mj-ea"/>
                <a:cs typeface="+mj-cs"/>
              </a:rPr>
              <a:t>Выводы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257413" y="6199007"/>
            <a:ext cx="10916724" cy="487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ИВАНОВ ИВАН ИВАНОВИЧ,  201-321,  04.06.2024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ВЕБ-ПРИЛОЖЕНИЯ ДЛЯ БРОНИРОВАНИЯ ТЕННИСНЫХ КОРТОВ В СПРОТКЛУБЕ СМЭШ</a:t>
            </a: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165164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439362" y="6207612"/>
            <a:ext cx="635192" cy="574701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12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244509"/>
            <a:ext cx="53815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solidFill>
                  <a:prstClr val="black"/>
                </a:solidFill>
                <a:latin typeface="Gilroy Bold" panose="00000800000000000000" pitchFamily="2" charset="-52"/>
                <a:ea typeface="+mj-ea"/>
                <a:cs typeface="+mj-cs"/>
              </a:rPr>
              <a:t>Заключение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228948" y="6225368"/>
            <a:ext cx="10916724" cy="487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ИВАНОВ ИВАН ИВАНОВИЧ,  201-321,  04.06.2024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ВЕБ-ПРИЛОЖЕНИЯ ДЛЯ БРОНИРОВАНИЯ ТЕННИСНЫХ КОРТОВ В СПРОТКЛУБЕ СМЭШ</a:t>
            </a: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655211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5355688" y="705942"/>
            <a:ext cx="12502191" cy="428760"/>
          </a:xfrm>
        </p:spPr>
        <p:txBody>
          <a:bodyPr>
            <a:noAutofit/>
          </a:bodyPr>
          <a:lstStyle/>
          <a:p>
            <a:r>
              <a:rPr lang="ru-RU" sz="2800" dirty="0"/>
              <a:t>С п а с и б о    з а   в н и м а н </a:t>
            </a:r>
            <a:r>
              <a:rPr lang="ru-RU" sz="2800"/>
              <a:t>и е ! </a:t>
            </a:r>
            <a:endParaRPr lang="ru-RU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E462F7-B2A7-4E4D-8555-1647177CEEFC}"/>
              </a:ext>
            </a:extLst>
          </p:cNvPr>
          <p:cNvSpPr txBox="1"/>
          <p:nvPr/>
        </p:nvSpPr>
        <p:spPr>
          <a:xfrm>
            <a:off x="7087263" y="4348563"/>
            <a:ext cx="4389538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Студент: </a:t>
            </a:r>
          </a:p>
          <a:p>
            <a:pPr marL="0" marR="0" lvl="0" indent="0" algn="r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Иванов Иван Иванович, группа 111-111 </a:t>
            </a:r>
          </a:p>
          <a:p>
            <a:pPr marL="0" marR="0" lvl="0" indent="0" algn="r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  <a:p>
            <a:pPr marL="0" marR="0" lvl="0" indent="0" algn="r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Научный руководитель: </a:t>
            </a:r>
          </a:p>
          <a:p>
            <a:pPr marL="0" marR="0" lvl="0" indent="0" algn="r" defTabSz="914400" rtl="0" eaLnBrk="1" fontAlgn="auto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Петров Петр Петрович, к.т.н.</a:t>
            </a:r>
            <a:endParaRPr lang="ru-RU" dirty="0">
              <a:latin typeface="Gilroy Medium" panose="00000600000000000000" charset="-5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C76724-8B7E-49E1-A5D8-0A86497396F2}"/>
              </a:ext>
            </a:extLst>
          </p:cNvPr>
          <p:cNvSpPr txBox="1"/>
          <p:nvPr/>
        </p:nvSpPr>
        <p:spPr>
          <a:xfrm>
            <a:off x="4721568" y="6454765"/>
            <a:ext cx="23057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n-ea"/>
                <a:cs typeface="+mn-cs"/>
              </a:rPr>
              <a:t>Москва, 4 июня 2024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C1E841-C2B3-4680-B71A-C0E060431885}"/>
              </a:ext>
            </a:extLst>
          </p:cNvPr>
          <p:cNvSpPr txBox="1"/>
          <p:nvPr/>
        </p:nvSpPr>
        <p:spPr>
          <a:xfrm>
            <a:off x="1434420" y="2951946"/>
            <a:ext cx="965487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 ВЕБ-ПРИЛОЖЕНИЯ  ДЛЯ БРОНИРОВАНИЯ 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ТЕННИСНЫХ  КОРТОВ  В СПРОТКЛУБЕ  СМЭШ 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414264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2">
  <a:themeElements>
    <a:clrScheme name="Московский Политех">
      <a:dk1>
        <a:sysClr val="windowText" lastClr="000000"/>
      </a:dk1>
      <a:lt1>
        <a:sysClr val="window" lastClr="FFFFFF"/>
      </a:lt1>
      <a:dk2>
        <a:srgbClr val="171616"/>
      </a:dk2>
      <a:lt2>
        <a:srgbClr val="E7E6E6"/>
      </a:lt2>
      <a:accent1>
        <a:srgbClr val="E61E46"/>
      </a:accent1>
      <a:accent2>
        <a:srgbClr val="1E3E8D"/>
      </a:accent2>
      <a:accent3>
        <a:srgbClr val="A5A5A5"/>
      </a:accent3>
      <a:accent4>
        <a:srgbClr val="60DCCA"/>
      </a:accent4>
      <a:accent5>
        <a:srgbClr val="3478BC"/>
      </a:accent5>
      <a:accent6>
        <a:srgbClr val="E94572"/>
      </a:accent6>
      <a:hlink>
        <a:srgbClr val="3478BC"/>
      </a:hlink>
      <a:folHlink>
        <a:srgbClr val="E94572"/>
      </a:folHlink>
    </a:clrScheme>
    <a:fontScheme name="Другая 2">
      <a:majorFont>
        <a:latin typeface="Verdana 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6" id="{2AEEDDF9-59ED-463C-8E0C-BF21DC8B3CB6}" vid="{CDD37877-5C07-4AD6-AFB2-357C367BDE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Shablon_Moscow_Poly_v3</Template>
  <TotalTime>547</TotalTime>
  <Words>331</Words>
  <Application>Microsoft Office PowerPoint</Application>
  <PresentationFormat>Широкоэкранный</PresentationFormat>
  <Paragraphs>80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Gilroy Bold</vt:lpstr>
      <vt:lpstr>Gilroy Medium</vt:lpstr>
      <vt:lpstr>Verdana</vt:lpstr>
      <vt:lpstr>Arial</vt:lpstr>
      <vt:lpstr>Calibri</vt:lpstr>
      <vt:lpstr>Тема2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 п а с и б о    з а   в н и м а н и е !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Veronika Natur</dc:creator>
  <cp:lastModifiedBy>Клим Медведев</cp:lastModifiedBy>
  <cp:revision>37</cp:revision>
  <dcterms:created xsi:type="dcterms:W3CDTF">2024-05-27T20:04:35Z</dcterms:created>
  <dcterms:modified xsi:type="dcterms:W3CDTF">2026-05-09T10:36:38Z</dcterms:modified>
</cp:coreProperties>
</file>
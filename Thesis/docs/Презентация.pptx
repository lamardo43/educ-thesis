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896" r:id="rId1"/>
  </p:sldMasterIdLst>
  <p:notesMasterIdLst>
    <p:notesMasterId r:id="rId17"/>
  </p:notesMasterIdLst>
  <p:sldIdLst>
    <p:sldId id="256" r:id="rId2"/>
    <p:sldId id="274" r:id="rId3"/>
    <p:sldId id="272" r:id="rId4"/>
    <p:sldId id="273" r:id="rId5"/>
    <p:sldId id="275" r:id="rId6"/>
    <p:sldId id="276" r:id="rId7"/>
    <p:sldId id="284" r:id="rId8"/>
    <p:sldId id="277" r:id="rId9"/>
    <p:sldId id="278" r:id="rId10"/>
    <p:sldId id="279" r:id="rId11"/>
    <p:sldId id="280" r:id="rId12"/>
    <p:sldId id="281" r:id="rId13"/>
    <p:sldId id="285" r:id="rId14"/>
    <p:sldId id="282" r:id="rId15"/>
    <p:sldId id="283" r:id="rId16"/>
  </p:sldIdLst>
  <p:sldSz cx="12192000" cy="6858000"/>
  <p:notesSz cx="6858000" cy="9144000"/>
  <p:embeddedFontLst>
    <p:embeddedFont>
      <p:font typeface="Aptos Narrow" panose="020B0004020202020204" pitchFamily="34" charset="0"/>
      <p:regular r:id="rId18"/>
      <p:bold r:id="rId19"/>
      <p:italic r:id="rId20"/>
      <p:boldItalic r:id="rId21"/>
    </p:embeddedFont>
    <p:embeddedFont>
      <p:font typeface="Gilroy Bold" panose="00000800000000000000" pitchFamily="50" charset="-52"/>
      <p:bold r:id="rId22"/>
    </p:embeddedFont>
    <p:embeddedFont>
      <p:font typeface="Gilroy Medium" panose="00000600000000000000" pitchFamily="50" charset="-52"/>
      <p:regular r:id="rId23"/>
    </p:embeddedFont>
    <p:embeddedFont>
      <p:font typeface="Verdana" panose="020B0604030504040204" pitchFamily="34" charset="0"/>
      <p:regular r:id="rId24"/>
      <p:bold r:id="rId25"/>
      <p:italic r:id="rId26"/>
      <p:boldItalic r:id="rId27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4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4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60" d="100"/>
          <a:sy n="160" d="100"/>
        </p:scale>
        <p:origin x="270" y="132"/>
      </p:cViewPr>
      <p:guideLst>
        <p:guide orient="horz" pos="504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B9DC91-30C7-46AB-ADDB-A80A0533D77A}" type="datetimeFigureOut">
              <a:rPr lang="ru-RU" smtClean="0"/>
              <a:t>03.06.2026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B6BEC5-E5BF-4073-B59F-AF429BC831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3945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85845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4820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3611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66981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049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51287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78672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1060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02745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91023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3066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82560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69934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6937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039528" y="2001837"/>
            <a:ext cx="10087276" cy="1508125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039528" y="4129238"/>
            <a:ext cx="10087276" cy="11285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6097" y="5654764"/>
            <a:ext cx="2860213" cy="1632459"/>
          </a:xfrm>
          <a:prstGeom prst="rect">
            <a:avLst/>
          </a:prstGeom>
        </p:spPr>
      </p:pic>
      <p:cxnSp>
        <p:nvCxnSpPr>
          <p:cNvPr id="12" name="Прямая соединительная линия 11"/>
          <p:cNvCxnSpPr/>
          <p:nvPr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cxnSp>
        <p:nvCxnSpPr>
          <p:cNvPr id="9" name="Прямая соединительная линия 8"/>
          <p:cNvCxnSpPr/>
          <p:nvPr userDrawn="1"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9507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959430"/>
            <a:ext cx="10281557" cy="364943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D3C23-8038-4008-B24E-40A94D79456D}" type="datetime1">
              <a:rPr lang="ru-RU" smtClean="0"/>
              <a:t>03.06.2026</a:t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0080171" y="5698671"/>
            <a:ext cx="1787979" cy="1047296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7370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58779" y="1286227"/>
            <a:ext cx="10087276" cy="215961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58779" y="4165953"/>
            <a:ext cx="10087276" cy="144557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24272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9993084" y="5390016"/>
            <a:ext cx="1828800" cy="1331459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252357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3543300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DD92-CC98-4900-BE8A-2068547BBC1A}" type="datetime1">
              <a:rPr lang="ru-RU" smtClean="0"/>
              <a:t>03.06.2026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800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992085"/>
            <a:ext cx="420574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702379"/>
            <a:ext cx="420574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5372100" y="1992085"/>
            <a:ext cx="432707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5372100" y="2702379"/>
            <a:ext cx="432707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38898-160C-4747-9301-0B5702FA49D8}" type="datetime1">
              <a:rPr lang="ru-RU" smtClean="0"/>
              <a:t>03.06.2026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8859383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3670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BB16F-DABE-4712-B47F-7722E1CB50FE}" type="datetime1">
              <a:rPr lang="ru-RU" smtClean="0"/>
              <a:t>03.06.2026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0327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BEA22-9938-4273-8C60-D80B349E4BA9}" type="datetime1">
              <a:rPr lang="ru-RU" smtClean="0"/>
              <a:t>03.06.2026</a:t>
            </a:fld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1701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66859" y="1281339"/>
            <a:ext cx="4898069" cy="45876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790B-F35A-4C90-BC4A-BA7F77964CA4}" type="datetime1">
              <a:rPr lang="ru-RU" smtClean="0"/>
              <a:t>03.06.2026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9784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1273629"/>
            <a:ext cx="5823902" cy="41120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3283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EF080-AA0F-44FA-BA62-A56D8619F7E7}" type="datetime1">
              <a:rPr lang="ru-RU" smtClean="0"/>
              <a:t>03.06.2026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0307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 title="0"/>
          <p:cNvSpPr>
            <a:spLocks noGrp="1" noChangeAspect="1"/>
          </p:cNvSpPr>
          <p:nvPr>
            <p:ph type="sldNum" sz="quarter" idx="4"/>
          </p:nvPr>
        </p:nvSpPr>
        <p:spPr>
          <a:xfrm>
            <a:off x="10076358" y="5731329"/>
            <a:ext cx="1787978" cy="1071890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>
              <a:defRPr sz="9600" b="0" i="0" baseline="0">
                <a:solidFill>
                  <a:schemeClr val="bg2">
                    <a:lumMod val="90000"/>
                  </a:schemeClr>
                </a:solidFill>
                <a:latin typeface="Gilroy Medium" panose="00000600000000000000" pitchFamily="2" charset="-52"/>
              </a:defRPr>
            </a:lvl1pPr>
          </a:lstStyle>
          <a:p>
            <a:fld id="{A01BE76D-E181-4177-862E-40D97C82BFEB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959429"/>
            <a:ext cx="10281557" cy="3657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AB8CDF-4973-4195-91CA-18BA11F1D400}" type="datetime1">
              <a:rPr lang="ru-RU" smtClean="0"/>
              <a:t>03.06.2026</a:t>
            </a:fld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768" y="200819"/>
            <a:ext cx="1489158" cy="1053193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555171"/>
            <a:ext cx="8877300" cy="11355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Прямая соединительная линия 10"/>
          <p:cNvCxnSpPr/>
          <p:nvPr userDrawn="1"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3667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7" r:id="rId1"/>
    <p:sldLayoutId id="2147483898" r:id="rId2"/>
    <p:sldLayoutId id="2147483899" r:id="rId3"/>
    <p:sldLayoutId id="2147483900" r:id="rId4"/>
    <p:sldLayoutId id="2147483901" r:id="rId5"/>
    <p:sldLayoutId id="2147483902" r:id="rId6"/>
    <p:sldLayoutId id="2147483903" r:id="rId7"/>
    <p:sldLayoutId id="2147483904" r:id="rId8"/>
    <p:sldLayoutId id="2147483905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Gilroy Bold" panose="00000800000000000000" pitchFamily="2" charset="-52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067954" y="723037"/>
            <a:ext cx="812404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ВЫПУСКНАЯ КВАЛИФИКАЦИОННАЯ РАБОТА</a:t>
            </a:r>
          </a:p>
          <a:p>
            <a:pPr algn="ctr"/>
            <a:endParaRPr kumimoji="0" lang="ru-RU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 </a:t>
            </a:r>
            <a:r>
              <a:rPr lang="ru-RU" dirty="0">
                <a:latin typeface="Gilroy Medium" panose="00000600000000000000" charset="-52"/>
              </a:rPr>
              <a:t>по направлению 09.03.01 Информатика и вычислительная техника</a:t>
            </a:r>
          </a:p>
          <a:p>
            <a:pPr algn="ctr"/>
            <a:r>
              <a:rPr lang="ru-RU" dirty="0">
                <a:latin typeface="Gilroy Medium" panose="00000600000000000000" charset="-52"/>
              </a:rPr>
              <a:t>Образовательная программа (профиль) «Системная и программная инженерия»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76899" y="2951946"/>
            <a:ext cx="11887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РАЗРАБОТКА СИСТЕМЫ ДЛЯ ПРОКСИРОВАНИЯ И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МОНИТОРИНГА ИМИТАЦИОННЫХ СЕРВИСОВ В СРЕДЕ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НАГРУЗОЧНОГО ТЕСТИРОВАНИЯ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8C808-D44B-4FFB-A9B8-91FA34E1C60F}"/>
              </a:ext>
            </a:extLst>
          </p:cNvPr>
          <p:cNvSpPr txBox="1"/>
          <p:nvPr/>
        </p:nvSpPr>
        <p:spPr>
          <a:xfrm>
            <a:off x="7373922" y="4597930"/>
            <a:ext cx="422175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Студент: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Медведев Клим Николаевич,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группа 221-329.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Научный руководитель: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 err="1">
                <a:latin typeface="Gilroy Medium" panose="00000600000000000000" charset="-52"/>
              </a:rPr>
              <a:t>Кружалов</a:t>
            </a:r>
            <a:r>
              <a:rPr lang="ru-RU" sz="1800" dirty="0">
                <a:latin typeface="Gilroy Medium" panose="00000600000000000000" charset="-52"/>
              </a:rPr>
              <a:t> Алексей Сергеевич,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</a:t>
            </a:r>
            <a:r>
              <a:rPr lang="ru-RU" sz="1800" dirty="0">
                <a:latin typeface="Gilroy Medium" panose="00000600000000000000" charset="-52"/>
              </a:rPr>
              <a:t>тарший преп</a:t>
            </a:r>
            <a:r>
              <a:rPr lang="ru-RU" dirty="0">
                <a:latin typeface="Gilroy Medium" panose="00000600000000000000" charset="-52"/>
              </a:rPr>
              <a:t>одаватель.</a:t>
            </a:r>
            <a:endParaRPr lang="ru-RU" sz="1800" dirty="0">
              <a:solidFill>
                <a:schemeClr val="tx1"/>
              </a:solidFill>
              <a:latin typeface="Gilroy Medium" panose="00000600000000000000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Москва, 4 июня 2026</a:t>
            </a:r>
          </a:p>
        </p:txBody>
      </p:sp>
    </p:spTree>
    <p:extLst>
      <p:ext uri="{BB962C8B-B14F-4D97-AF65-F5344CB8AC3E}">
        <p14:creationId xmlns:p14="http://schemas.microsoft.com/office/powerpoint/2010/main" val="916414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2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Актуальность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57200" y="1122030"/>
            <a:ext cx="4729111" cy="4942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ru-RU" sz="1600" dirty="0"/>
              <a:t>При нагрузочном тестировании сложных систем требуются десятки имитационных сервисов (заглушек). Ручное управление ими — трудоёмко и ненадёжно.</a:t>
            </a:r>
          </a:p>
          <a:p>
            <a:pPr>
              <a:lnSpc>
                <a:spcPct val="110000"/>
              </a:lnSpc>
            </a:pPr>
            <a:r>
              <a:rPr lang="ru-RU" sz="1600" b="1" dirty="0"/>
              <a:t>Проблемы существующих решений:</a:t>
            </a:r>
            <a:r>
              <a:rPr lang="ru-RU" sz="1600" dirty="0"/>
              <a:t> 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W</a:t>
            </a:r>
            <a:r>
              <a:rPr lang="ru-RU" sz="1600" dirty="0" err="1"/>
              <a:t>ireMock</a:t>
            </a:r>
            <a:r>
              <a:rPr lang="ru-RU" sz="1600" dirty="0"/>
              <a:t>, </a:t>
            </a:r>
            <a:r>
              <a:rPr lang="ru-RU" sz="1600" dirty="0" err="1"/>
              <a:t>MockServer</a:t>
            </a:r>
            <a:r>
              <a:rPr lang="ru-RU" sz="1600" dirty="0"/>
              <a:t>, </a:t>
            </a:r>
            <a:r>
              <a:rPr lang="ru-RU" sz="1600" dirty="0" err="1"/>
              <a:t>Mountebank</a:t>
            </a:r>
            <a:r>
              <a:rPr lang="ru-RU" sz="1600" dirty="0"/>
              <a:t> не управляют инфраструктурой JAR/WAR-процессов; 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Apache </a:t>
            </a:r>
            <a:r>
              <a:rPr lang="ru-RU" sz="1600" dirty="0" err="1"/>
              <a:t>Tomcat</a:t>
            </a:r>
            <a:r>
              <a:rPr lang="ru-RU" sz="1600" dirty="0"/>
              <a:t> избыточен и не поддерживает динамический Rate </a:t>
            </a:r>
            <a:r>
              <a:rPr lang="ru-RU" sz="1600" dirty="0" err="1"/>
              <a:t>Limiting</a:t>
            </a:r>
            <a:r>
              <a:rPr lang="ru-RU" sz="1600" dirty="0"/>
              <a:t>; 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Все зарубежные решения косвенно совместимы с ОС Astra Linux;</a:t>
            </a:r>
          </a:p>
          <a:p>
            <a:pPr>
              <a:lnSpc>
                <a:spcPct val="110000"/>
              </a:lnSpc>
            </a:pPr>
            <a:r>
              <a:rPr lang="ru-RU" sz="1600" b="1" dirty="0"/>
              <a:t>Вывод:</a:t>
            </a:r>
            <a:r>
              <a:rPr lang="ru-RU" sz="1600" dirty="0"/>
              <a:t> ни одно из существующих решений не решает задачу централизованного управления распределённой инфраструктурой </a:t>
            </a:r>
            <a:r>
              <a:rPr lang="en-US" sz="1600" dirty="0"/>
              <a:t>mock</a:t>
            </a:r>
            <a:r>
              <a:rPr lang="ru-RU" sz="1600" dirty="0"/>
              <a:t>-сервисов в условиях импортозамещения.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F7213A9-A074-E9FE-F63A-FE52F9B6DD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4568" y="1284247"/>
            <a:ext cx="6787590" cy="47317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8C1C5E4-62FF-86E0-7D93-D49B794F6D0F}"/>
              </a:ext>
            </a:extLst>
          </p:cNvPr>
          <p:cNvSpPr txBox="1"/>
          <p:nvPr/>
        </p:nvSpPr>
        <p:spPr>
          <a:xfrm>
            <a:off x="5194568" y="5978198"/>
            <a:ext cx="67875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000" dirty="0"/>
              <a:t>Схема нагрузочного тестирования при использовании имитационных сервисов</a:t>
            </a:r>
          </a:p>
        </p:txBody>
      </p:sp>
    </p:spTree>
    <p:extLst>
      <p:ext uri="{BB962C8B-B14F-4D97-AF65-F5344CB8AC3E}">
        <p14:creationId xmlns:p14="http://schemas.microsoft.com/office/powerpoint/2010/main" val="531669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3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Цель и задачи</a:t>
            </a: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ilroy Bold" panose="00000800000000000000" pitchFamily="2" charset="-52"/>
                <a:ea typeface="+mj-ea"/>
                <a:cs typeface="+mj-cs"/>
              </a:rPr>
              <a:t> работы</a:t>
            </a:r>
            <a:endParaRPr lang="ru-RU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23877" y="1339916"/>
            <a:ext cx="11344245" cy="4606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/>
              <a:t>Цель:</a:t>
            </a:r>
            <a:r>
              <a:rPr lang="ru-RU" dirty="0"/>
              <a:t> спроектировать и разработать автоматизированную информационную систему для централизованного управления имитационными сервисами в среде нагрузочного тестирования и мониторинга их состояния.</a:t>
            </a:r>
          </a:p>
          <a:p>
            <a:pPr>
              <a:lnSpc>
                <a:spcPct val="150000"/>
              </a:lnSpc>
            </a:pPr>
            <a:endParaRPr lang="ru-RU" dirty="0"/>
          </a:p>
          <a:p>
            <a:pPr>
              <a:lnSpc>
                <a:spcPct val="150000"/>
              </a:lnSpc>
            </a:pPr>
            <a:r>
              <a:rPr lang="ru-RU" b="1" dirty="0"/>
              <a:t>Задачи:</a:t>
            </a:r>
            <a:endParaRPr lang="ru-RU" dirty="0"/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Провести анализ предметной области и существующих подходов.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Спроектировать архитектуру программного комплекса.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Обосновать выбор технологического стека.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Разработать алгоритмы </a:t>
            </a:r>
            <a:r>
              <a:rPr lang="ru-RU" dirty="0" err="1"/>
              <a:t>проксирования</a:t>
            </a:r>
            <a:r>
              <a:rPr lang="ru-RU" dirty="0"/>
              <a:t>, Rate </a:t>
            </a:r>
            <a:r>
              <a:rPr lang="ru-RU" dirty="0" err="1"/>
              <a:t>Limiting</a:t>
            </a:r>
            <a:r>
              <a:rPr lang="ru-RU" dirty="0"/>
              <a:t> и API управления.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Реализовать систему хранения конфигураций и контроля состояний.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Провести тестирование в среде ОС Astra Linux.</a:t>
            </a:r>
          </a:p>
        </p:txBody>
      </p:sp>
    </p:spTree>
    <p:extLst>
      <p:ext uri="{BB962C8B-B14F-4D97-AF65-F5344CB8AC3E}">
        <p14:creationId xmlns:p14="http://schemas.microsoft.com/office/powerpoint/2010/main" val="403781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4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413512"/>
            <a:ext cx="82891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Анализ аналогов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97130" y="1564009"/>
            <a:ext cx="7434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Сравнительный анализ существующих решений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CB75CB1B-6AEB-C021-38CD-884737E09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9053544"/>
              </p:ext>
            </p:extLst>
          </p:nvPr>
        </p:nvGraphicFramePr>
        <p:xfrm>
          <a:off x="497130" y="2135036"/>
          <a:ext cx="11197740" cy="315895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239548">
                  <a:extLst>
                    <a:ext uri="{9D8B030D-6E8A-4147-A177-3AD203B41FA5}">
                      <a16:colId xmlns:a16="http://schemas.microsoft.com/office/drawing/2014/main" val="2215622627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2193038394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1993197335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2629393087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3470350277"/>
                    </a:ext>
                  </a:extLst>
                </a:gridCol>
              </a:tblGrid>
              <a:tr h="339555">
                <a:tc>
                  <a:txBody>
                    <a:bodyPr/>
                    <a:lstStyle/>
                    <a:p>
                      <a:r>
                        <a:rPr lang="ru-RU" sz="1600"/>
                        <a:t>Критерий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WireMock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MockServer</a:t>
                      </a:r>
                      <a:endParaRPr lang="en-US" sz="1600" dirty="0"/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Apache Tomcat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Разраб. система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836299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 dirty="0"/>
                        <a:t>Управление JAR/WAR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Да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76040357"/>
                  </a:ext>
                </a:extLst>
              </a:tr>
              <a:tr h="296462">
                <a:tc>
                  <a:txBody>
                    <a:bodyPr/>
                    <a:lstStyle/>
                    <a:p>
                      <a:r>
                        <a:rPr lang="ru-RU" sz="1600" dirty="0"/>
                        <a:t>Централизованная </a:t>
                      </a:r>
                      <a:r>
                        <a:rPr lang="ru-RU" sz="1600" dirty="0" err="1"/>
                        <a:t>оркестрация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Да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54382769"/>
                  </a:ext>
                </a:extLst>
              </a:tr>
              <a:tr h="296462">
                <a:tc>
                  <a:txBody>
                    <a:bodyPr/>
                    <a:lstStyle/>
                    <a:p>
                      <a:r>
                        <a:rPr lang="ru-RU" sz="1600"/>
                        <a:t>Динамический </a:t>
                      </a:r>
                      <a:r>
                        <a:rPr lang="en-US" sz="1600"/>
                        <a:t>Rate Limiting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Да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09741136"/>
                  </a:ext>
                </a:extLst>
              </a:tr>
              <a:tr h="173788">
                <a:tc>
                  <a:txBody>
                    <a:bodyPr/>
                    <a:lstStyle/>
                    <a:p>
                      <a:r>
                        <a:rPr lang="ru-RU" sz="1600"/>
                        <a:t>Потребление ресурсов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 (</a:t>
                      </a:r>
                      <a:r>
                        <a:rPr lang="en-US" sz="1600"/>
                        <a:t>JVM)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 (</a:t>
                      </a:r>
                      <a:r>
                        <a:rPr lang="en-US" sz="1600"/>
                        <a:t>JVM)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Низкое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334642467"/>
                  </a:ext>
                </a:extLst>
              </a:tr>
              <a:tr h="451845">
                <a:tc>
                  <a:txBody>
                    <a:bodyPr/>
                    <a:lstStyle/>
                    <a:p>
                      <a:r>
                        <a:rPr lang="ru-RU" sz="1600"/>
                        <a:t>Совместимость с </a:t>
                      </a:r>
                      <a:r>
                        <a:rPr lang="en-US" sz="1600"/>
                        <a:t>Astra Linux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Да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360069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09017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текст, снимок экрана, Шрифт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336DC11-6039-E2E6-AD68-0E377D16C3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073065"/>
            <a:ext cx="7560404" cy="5060464"/>
          </a:xfrm>
          <a:prstGeom prst="rect">
            <a:avLst/>
          </a:prstGeom>
        </p:spPr>
      </p:pic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5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339755" y="536629"/>
            <a:ext cx="102825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Архитектура и технологический стек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2183D14-AFAE-7A8F-C3EA-489652D8C5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6222" y="2355405"/>
            <a:ext cx="941542" cy="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Redis SVG and transparent PNG icons | TechIcons">
            <a:extLst>
              <a:ext uri="{FF2B5EF4-FFF2-40B4-BE49-F238E27FC236}">
                <a16:creationId xmlns:a16="http://schemas.microsoft.com/office/drawing/2014/main" id="{AB39A782-0B95-12FE-464E-021B27DCE4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5634" y="1856558"/>
            <a:ext cx="1125127" cy="1125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FastAPI — UberLab 7 documentation">
            <a:extLst>
              <a:ext uri="{FF2B5EF4-FFF2-40B4-BE49-F238E27FC236}">
                <a16:creationId xmlns:a16="http://schemas.microsoft.com/office/drawing/2014/main" id="{3FBB3363-EB8D-ACF5-A5D1-FAC152C14A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9259" y="1258790"/>
            <a:ext cx="2367897" cy="854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HTML - Wikipedia">
            <a:extLst>
              <a:ext uri="{FF2B5EF4-FFF2-40B4-BE49-F238E27FC236}">
                <a16:creationId xmlns:a16="http://schemas.microsoft.com/office/drawing/2014/main" id="{9C3207DC-53C6-F54E-9B33-231CAE29C7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0273" y="3750673"/>
            <a:ext cx="962492" cy="9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Jinja2 - secure and fast Python template engine — Quintagroup">
            <a:extLst>
              <a:ext uri="{FF2B5EF4-FFF2-40B4-BE49-F238E27FC236}">
                <a16:creationId xmlns:a16="http://schemas.microsoft.com/office/drawing/2014/main" id="{399D4E95-BAC4-0255-C7C9-E090FD491C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5434" y="3876316"/>
            <a:ext cx="1273509" cy="1273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Российская операционная система Astra Linux, официальная русская ОС">
            <a:extLst>
              <a:ext uri="{FF2B5EF4-FFF2-40B4-BE49-F238E27FC236}">
                <a16:creationId xmlns:a16="http://schemas.microsoft.com/office/drawing/2014/main" id="{FB2D7E23-B26E-5CC3-9B08-340F09D23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7125" y="5166892"/>
            <a:ext cx="2575647" cy="974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9100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6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91529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Структуры данных</a:t>
            </a:r>
          </a:p>
        </p:txBody>
      </p:sp>
      <p:pic>
        <p:nvPicPr>
          <p:cNvPr id="8" name="Рисунок 7" descr="Изображение выглядит как текст, снимок экрана, число,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D97ABA3-4301-9AF9-6B01-C31A20F5D3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9126" y="1534238"/>
            <a:ext cx="6198469" cy="4518969"/>
          </a:xfrm>
          <a:prstGeom prst="rect">
            <a:avLst/>
          </a:prstGeom>
        </p:spPr>
      </p:pic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76625936-398F-5383-1D69-99BCCFC1F9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077903"/>
              </p:ext>
            </p:extLst>
          </p:nvPr>
        </p:nvGraphicFramePr>
        <p:xfrm>
          <a:off x="201584" y="1071868"/>
          <a:ext cx="5331708" cy="4894436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275893">
                  <a:extLst>
                    <a:ext uri="{9D8B030D-6E8A-4147-A177-3AD203B41FA5}">
                      <a16:colId xmlns:a16="http://schemas.microsoft.com/office/drawing/2014/main" val="3718854607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122733606"/>
                    </a:ext>
                  </a:extLst>
                </a:gridCol>
                <a:gridCol w="2344615">
                  <a:extLst>
                    <a:ext uri="{9D8B030D-6E8A-4147-A177-3AD203B41FA5}">
                      <a16:colId xmlns:a16="http://schemas.microsoft.com/office/drawing/2014/main" val="4218300197"/>
                    </a:ext>
                  </a:extLst>
                </a:gridCol>
              </a:tblGrid>
              <a:tr h="258953">
                <a:tc>
                  <a:txBody>
                    <a:bodyPr/>
                    <a:lstStyle/>
                    <a:p>
                      <a:pPr algn="ctr" fontAlgn="b"/>
                      <a:r>
                        <a:rPr lang="ru-RU" sz="1400" u="none" strike="noStrike" dirty="0">
                          <a:effectLst/>
                        </a:rPr>
                        <a:t>Ключ</a:t>
                      </a:r>
                      <a:endParaRPr lang="ru-RU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400" u="none" strike="noStrike" dirty="0">
                          <a:effectLst/>
                        </a:rPr>
                        <a:t>Тип</a:t>
                      </a:r>
                      <a:endParaRPr lang="ru-RU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400" u="none" strike="noStrike" dirty="0">
                          <a:effectLst/>
                        </a:rPr>
                        <a:t>Назначение</a:t>
                      </a:r>
                      <a:endParaRPr lang="ru-RU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3735483"/>
                  </a:ext>
                </a:extLst>
              </a:tr>
              <a:tr h="63665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mocks:{filename}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Hash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>
                          <a:effectLst/>
                        </a:rPr>
                        <a:t>Конфигурация и состояние заглушки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83053325"/>
                  </a:ext>
                </a:extLst>
              </a:tr>
              <a:tr h="63665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mocks:registry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Set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>
                          <a:effectLst/>
                        </a:rPr>
                        <a:t>Множество имён файлов всех заглушек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86743543"/>
                  </a:ext>
                </a:extLst>
              </a:tr>
              <a:tr h="51075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hosts:{hostname}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Hash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>
                          <a:effectLst/>
                        </a:rPr>
                        <a:t>Конфигурация целевого хоста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4895230"/>
                  </a:ext>
                </a:extLst>
              </a:tr>
              <a:tr h="63665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hosts:registry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Set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 dirty="0">
                          <a:effectLst/>
                        </a:rPr>
                        <a:t>Множество </a:t>
                      </a:r>
                      <a:r>
                        <a:rPr lang="en-US" sz="1200" u="none" strike="noStrike" dirty="0">
                          <a:effectLst/>
                        </a:rPr>
                        <a:t>hostname </a:t>
                      </a:r>
                      <a:r>
                        <a:rPr lang="ru-RU" sz="1200" u="none" strike="noStrike" dirty="0">
                          <a:effectLst/>
                        </a:rPr>
                        <a:t>всех хостов</a:t>
                      </a: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31967908"/>
                  </a:ext>
                </a:extLst>
              </a:tr>
              <a:tr h="38485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accounts:{uuid}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Hash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 dirty="0">
                          <a:effectLst/>
                        </a:rPr>
                        <a:t>Учётная запись </a:t>
                      </a:r>
                      <a:r>
                        <a:rPr lang="en-US" sz="1200" u="none" strike="noStrike" dirty="0">
                          <a:effectLst/>
                        </a:rPr>
                        <a:t>SSH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46145835"/>
                  </a:ext>
                </a:extLst>
              </a:tr>
              <a:tr h="51075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 err="1">
                          <a:effectLst/>
                        </a:rPr>
                        <a:t>accounts:registry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Set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 dirty="0">
                          <a:effectLst/>
                        </a:rPr>
                        <a:t>Множество </a:t>
                      </a:r>
                      <a:r>
                        <a:rPr lang="en-US" sz="1200" u="none" strike="noStrike" dirty="0">
                          <a:effectLst/>
                        </a:rPr>
                        <a:t>UUID </a:t>
                      </a:r>
                      <a:r>
                        <a:rPr lang="ru-RU" sz="1200" u="none" strike="noStrike" dirty="0">
                          <a:effectLst/>
                        </a:rPr>
                        <a:t>учётных записей</a:t>
                      </a: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77430999"/>
                  </a:ext>
                </a:extLst>
              </a:tr>
              <a:tr h="51075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rate:{filename}:{window}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String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 err="1">
                          <a:effectLst/>
                        </a:rPr>
                        <a:t>Счётчик</a:t>
                      </a:r>
                      <a:r>
                        <a:rPr lang="en-US" sz="1200" u="none" strike="noStrike" dirty="0">
                          <a:effectLst/>
                        </a:rPr>
                        <a:t> Rate Limiter (с TTL)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2347782"/>
                  </a:ext>
                </a:extLst>
              </a:tr>
              <a:tr h="76255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settings:global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Hash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 dirty="0">
                          <a:effectLst/>
                        </a:rPr>
                        <a:t>Глобальные параметры приложения</a:t>
                      </a: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2181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2221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7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Топология развёртывания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57199" y="1466723"/>
            <a:ext cx="4001247" cy="3751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ru-RU" sz="1600" dirty="0"/>
              <a:t>Система поддерживает два режима без изменения кодовой базы: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1600" b="1" dirty="0"/>
              <a:t>Cluster Mode</a:t>
            </a:r>
            <a:r>
              <a:rPr lang="ru-RU" sz="1600" dirty="0"/>
              <a:t>: один управляющий узел координирует несколько удалённых хостов через SSH/SFTP;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1600" b="1" dirty="0" err="1"/>
              <a:t>Standalone</a:t>
            </a:r>
            <a:r>
              <a:rPr lang="ru-RU" sz="1600" b="1" dirty="0"/>
              <a:t> Mode</a:t>
            </a:r>
            <a:r>
              <a:rPr lang="ru-RU" sz="1600" dirty="0"/>
              <a:t>: все компоненты на одном сервере</a:t>
            </a:r>
            <a:br>
              <a:rPr lang="ru-RU" sz="1600" dirty="0"/>
            </a:br>
            <a:r>
              <a:rPr lang="ru-RU" sz="1600" dirty="0"/>
              <a:t>На целевых хостах не требуется установка агентов — только SSH-сервер и </a:t>
            </a:r>
            <a:r>
              <a:rPr lang="ru-RU" sz="1600" dirty="0" err="1"/>
              <a:t>OpenJDK</a:t>
            </a:r>
            <a:r>
              <a:rPr lang="ru-RU" sz="1600" dirty="0"/>
              <a:t> 17.</a:t>
            </a:r>
          </a:p>
        </p:txBody>
      </p:sp>
      <p:pic>
        <p:nvPicPr>
          <p:cNvPr id="5" name="Рисунок 4" descr="Изображение выглядит как текст, снимок экрана, Шрифт, Параллельный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FF6725E-7A65-7549-CB3D-77306428511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3137" y="1212568"/>
            <a:ext cx="7231664" cy="4965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957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8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 err="1">
                <a:latin typeface="Gilroy Bold" panose="00000800000000000000" pitchFamily="2" charset="-52"/>
                <a:ea typeface="+mj-ea"/>
                <a:cs typeface="+mj-cs"/>
              </a:rPr>
              <a:t>Проксирование</a:t>
            </a:r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 и Rate </a:t>
            </a:r>
            <a:r>
              <a:rPr lang="ru-RU" sz="3200" dirty="0" err="1">
                <a:latin typeface="Gilroy Bold" panose="00000800000000000000" pitchFamily="2" charset="-52"/>
                <a:ea typeface="+mj-ea"/>
                <a:cs typeface="+mj-cs"/>
              </a:rPr>
              <a:t>Limiting</a:t>
            </a:r>
            <a:endParaRPr lang="ru-RU" sz="3200" dirty="0">
              <a:latin typeface="Gilroy Bold" panose="00000800000000000000" pitchFamily="2" charset="-52"/>
              <a:ea typeface="+mj-ea"/>
              <a:cs typeface="+mj-cs"/>
            </a:endParaRPr>
          </a:p>
        </p:txBody>
      </p:sp>
      <p:pic>
        <p:nvPicPr>
          <p:cNvPr id="10" name="Рисунок 9" descr="Изображение выглядит как текст, снимок экрана, Шрифт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D5AC783-F67F-FDD4-576E-ACC0063AD0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8144" y="1024064"/>
            <a:ext cx="3815968" cy="5296681"/>
          </a:xfrm>
          <a:prstGeom prst="rect">
            <a:avLst/>
          </a:prstGeom>
        </p:spPr>
      </p:pic>
      <p:pic>
        <p:nvPicPr>
          <p:cNvPr id="9" name="Рисунок 8" descr="Изображение выглядит как текст, снимок экрана, График, линия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E4D3A63-67A0-38E0-F789-B8AE9C3085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" t="1189" r="23539" b="1623"/>
          <a:stretch/>
        </p:blipFill>
        <p:spPr>
          <a:xfrm>
            <a:off x="457200" y="1234954"/>
            <a:ext cx="5990688" cy="41596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97C64A-7E39-680D-0736-BFA86D18260D}"/>
              </a:ext>
            </a:extLst>
          </p:cNvPr>
          <p:cNvSpPr txBox="1"/>
          <p:nvPr/>
        </p:nvSpPr>
        <p:spPr>
          <a:xfrm>
            <a:off x="3113348" y="5369002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Время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403B05-77AB-44C2-B157-13C9DB2919FF}"/>
              </a:ext>
            </a:extLst>
          </p:cNvPr>
          <p:cNvSpPr txBox="1"/>
          <p:nvPr/>
        </p:nvSpPr>
        <p:spPr>
          <a:xfrm>
            <a:off x="155089" y="2191381"/>
            <a:ext cx="369332" cy="2562561"/>
          </a:xfrm>
          <a:prstGeom prst="rect">
            <a:avLst/>
          </a:prstGeom>
          <a:noFill/>
        </p:spPr>
        <p:txBody>
          <a:bodyPr vert="vert270" wrap="none" rtlCol="0">
            <a:spAutoFit/>
          </a:bodyPr>
          <a:lstStyle/>
          <a:p>
            <a:r>
              <a:rPr lang="ru-RU" sz="1200" dirty="0"/>
              <a:t>Интенсивность запросов (</a:t>
            </a:r>
            <a:r>
              <a:rPr lang="en-US" sz="1200" dirty="0"/>
              <a:t>RPS</a:t>
            </a:r>
            <a:r>
              <a:rPr lang="ru-RU" sz="1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83393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9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Управление жизненным циклом</a:t>
            </a:r>
          </a:p>
        </p:txBody>
      </p:sp>
      <p:pic>
        <p:nvPicPr>
          <p:cNvPr id="4" name="Рисунок 3" descr="Изображение выглядит как текст, диаграмма, снимок экрана, линия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F4A0CBAD-5AC8-3BE7-31EC-E2ABAB338B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4488" y="1206979"/>
            <a:ext cx="5629275" cy="48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922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319435" y="6171414"/>
            <a:ext cx="670981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10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Веб-интерфейс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5CA95D3-A3D5-12BC-47DC-7F8B40BF8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5443" y="1384300"/>
            <a:ext cx="7324973" cy="472555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B23D4B4-8109-651F-C3BF-646169597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58" y="1384300"/>
            <a:ext cx="3478692" cy="4725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8260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444941" y="6171414"/>
            <a:ext cx="545475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11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Функциональное тестирование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4333BB9-A0A9-AF68-A54E-4D37143ECD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9137228"/>
              </p:ext>
            </p:extLst>
          </p:nvPr>
        </p:nvGraphicFramePr>
        <p:xfrm>
          <a:off x="914400" y="1659284"/>
          <a:ext cx="10282239" cy="355117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4620904">
                  <a:extLst>
                    <a:ext uri="{9D8B030D-6E8A-4147-A177-3AD203B41FA5}">
                      <a16:colId xmlns:a16="http://schemas.microsoft.com/office/drawing/2014/main" val="1472585013"/>
                    </a:ext>
                  </a:extLst>
                </a:gridCol>
                <a:gridCol w="1719618">
                  <a:extLst>
                    <a:ext uri="{9D8B030D-6E8A-4147-A177-3AD203B41FA5}">
                      <a16:colId xmlns:a16="http://schemas.microsoft.com/office/drawing/2014/main" val="3833472201"/>
                    </a:ext>
                  </a:extLst>
                </a:gridCol>
                <a:gridCol w="3941717">
                  <a:extLst>
                    <a:ext uri="{9D8B030D-6E8A-4147-A177-3AD203B41FA5}">
                      <a16:colId xmlns:a16="http://schemas.microsoft.com/office/drawing/2014/main" val="25349097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Сценарий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Успешность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Результат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8259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/>
                        <a:t>Перезапуск при работающих процессах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Статусы </a:t>
                      </a:r>
                      <a:r>
                        <a:rPr lang="en-US" sz="1600" dirty="0"/>
                        <a:t>RUNNING </a:t>
                      </a:r>
                      <a:r>
                        <a:rPr lang="ru-RU" sz="1600" dirty="0"/>
                        <a:t>сохранены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619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Перезапуск при завершённых процессах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Автоматический перезапуск </a:t>
                      </a:r>
                      <a:r>
                        <a:rPr lang="en-US" sz="1600" dirty="0"/>
                        <a:t>mock</a:t>
                      </a:r>
                      <a:r>
                        <a:rPr lang="ru-RU" sz="1600" dirty="0"/>
                        <a:t>-сервисов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84144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Восстановление после аварии </a:t>
                      </a:r>
                      <a:r>
                        <a:rPr lang="en-US" sz="1600" dirty="0"/>
                        <a:t>Redis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Данные восстановлены из </a:t>
                      </a:r>
                      <a:r>
                        <a:rPr lang="en-US" sz="1600" dirty="0"/>
                        <a:t>AOF-</a:t>
                      </a:r>
                      <a:r>
                        <a:rPr lang="ru-RU" sz="1600" dirty="0"/>
                        <a:t>журнала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46464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Обнаружение сбоя планировщиком </a:t>
                      </a:r>
                      <a:r>
                        <a:rPr lang="en-US" sz="1600" dirty="0" err="1"/>
                        <a:t>HealthChecker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Статус ERROR за ≤ 30 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0429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 err="1"/>
                        <a:t>Автовозврат</a:t>
                      </a:r>
                      <a:r>
                        <a:rPr lang="ru-RU" sz="1600" dirty="0"/>
                        <a:t> из ERROR в RUNNING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Статус RUNNING за ≤ 30 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7126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6337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397129" y="6171414"/>
            <a:ext cx="593287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12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>
                <a:latin typeface="Gilroy Bold" panose="00000800000000000000" pitchFamily="2" charset="-52"/>
                <a:ea typeface="+mj-ea"/>
                <a:cs typeface="+mj-cs"/>
              </a:rPr>
              <a:t>Нагрузочное тестирование</a:t>
            </a:r>
            <a:endParaRPr lang="ru-RU" sz="3200" dirty="0">
              <a:latin typeface="Gilroy Bold" panose="00000800000000000000" pitchFamily="2" charset="-52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09377" y="1079764"/>
            <a:ext cx="10729120" cy="411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Инструмент: k6. Наблюдение через </a:t>
            </a:r>
            <a:r>
              <a:rPr lang="ru-RU" sz="1600" dirty="0" err="1"/>
              <a:t>эндпоинт</a:t>
            </a:r>
            <a:r>
              <a:rPr lang="ru-RU" sz="1600" dirty="0"/>
              <a:t> /</a:t>
            </a:r>
            <a:r>
              <a:rPr lang="ru-RU" sz="1600" dirty="0" err="1"/>
              <a:t>metrics</a:t>
            </a:r>
            <a:r>
              <a:rPr lang="ru-RU" sz="1600" dirty="0"/>
              <a:t> (</a:t>
            </a:r>
            <a:r>
              <a:rPr lang="ru-RU" sz="1600" dirty="0" err="1"/>
              <a:t>Prometheus</a:t>
            </a:r>
            <a:r>
              <a:rPr lang="ru-RU" sz="1600" dirty="0"/>
              <a:t>).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E7AA6F9-7395-8004-5D71-C8FCE9E11A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0751237"/>
              </p:ext>
            </p:extLst>
          </p:nvPr>
        </p:nvGraphicFramePr>
        <p:xfrm>
          <a:off x="271929" y="2583462"/>
          <a:ext cx="4897718" cy="21031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068604">
                  <a:extLst>
                    <a:ext uri="{9D8B030D-6E8A-4147-A177-3AD203B41FA5}">
                      <a16:colId xmlns:a16="http://schemas.microsoft.com/office/drawing/2014/main" val="4246277828"/>
                    </a:ext>
                  </a:extLst>
                </a:gridCol>
                <a:gridCol w="1399013">
                  <a:extLst>
                    <a:ext uri="{9D8B030D-6E8A-4147-A177-3AD203B41FA5}">
                      <a16:colId xmlns:a16="http://schemas.microsoft.com/office/drawing/2014/main" val="3350268425"/>
                    </a:ext>
                  </a:extLst>
                </a:gridCol>
                <a:gridCol w="1430101">
                  <a:extLst>
                    <a:ext uri="{9D8B030D-6E8A-4147-A177-3AD203B41FA5}">
                      <a16:colId xmlns:a16="http://schemas.microsoft.com/office/drawing/2014/main" val="3905350028"/>
                    </a:ext>
                  </a:extLst>
                </a:gridCol>
              </a:tblGrid>
              <a:tr h="14748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Сценарий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Показатель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Результат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3529245"/>
                  </a:ext>
                </a:extLst>
              </a:tr>
              <a:tr h="30725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Базовая нагрузка </a:t>
                      </a:r>
                      <a:br>
                        <a:rPr lang="en-US" sz="1200" dirty="0"/>
                      </a:br>
                      <a:r>
                        <a:rPr lang="ru-RU" sz="1200" dirty="0"/>
                        <a:t>(10 </a:t>
                      </a:r>
                      <a:r>
                        <a:rPr lang="en-US" sz="1200" dirty="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dirty="0" err="1"/>
                        <a:t>proxy_total_ms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3,90 мс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5834927"/>
                  </a:ext>
                </a:extLst>
              </a:tr>
              <a:tr h="37955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Нарастающая нагрузка (500 </a:t>
                      </a:r>
                      <a:r>
                        <a:rPr lang="en-US" sz="1200" dirty="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dirty="0" err="1"/>
                        <a:t>proxy_total_ms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3,01 мс — линейный рост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7857546"/>
                  </a:ext>
                </a:extLst>
              </a:tr>
              <a:tr h="37955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Нарастающая нагрузка (1000 </a:t>
                      </a:r>
                      <a:r>
                        <a:rPr lang="en-US" sz="12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dirty="0" err="1"/>
                        <a:t>proxy_total_ms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10,52 мс — без отказов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051413"/>
                  </a:ext>
                </a:extLst>
              </a:tr>
              <a:tr h="37955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/>
                        <a:t>Rate Limiting (</a:t>
                      </a:r>
                      <a:r>
                        <a:rPr lang="ru-RU" sz="1200"/>
                        <a:t>лимит 250, нагрузка 500 </a:t>
                      </a:r>
                      <a:r>
                        <a:rPr lang="en-US" sz="12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Отклонение от лимита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b="1" dirty="0"/>
                        <a:t>0,13%</a:t>
                      </a:r>
                      <a:endParaRPr lang="ru-RU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9924372"/>
                  </a:ext>
                </a:extLst>
              </a:tr>
            </a:tbl>
          </a:graphicData>
        </a:graphic>
      </p:graphicFrame>
      <p:pic>
        <p:nvPicPr>
          <p:cNvPr id="8" name="Рисунок 7" descr="Изображение выглядит как текст, снимок экрана, График, число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BC9D771-3416-C5EC-0613-B2FF6FA0D6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" t="953" b="715"/>
          <a:stretch/>
        </p:blipFill>
        <p:spPr>
          <a:xfrm>
            <a:off x="5583742" y="1659284"/>
            <a:ext cx="6406674" cy="39041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6D50BE-90CC-0FFA-3F53-15624E28731A}"/>
              </a:ext>
            </a:extLst>
          </p:cNvPr>
          <p:cNvSpPr txBox="1"/>
          <p:nvPr/>
        </p:nvSpPr>
        <p:spPr>
          <a:xfrm>
            <a:off x="8434467" y="5563428"/>
            <a:ext cx="7052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/>
              <a:t>Время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77BD0D-9BD5-7EB3-3494-19AA801A7BE0}"/>
              </a:ext>
            </a:extLst>
          </p:cNvPr>
          <p:cNvSpPr txBox="1"/>
          <p:nvPr/>
        </p:nvSpPr>
        <p:spPr>
          <a:xfrm>
            <a:off x="5307106" y="2462306"/>
            <a:ext cx="369332" cy="1909713"/>
          </a:xfrm>
          <a:prstGeom prst="rect">
            <a:avLst/>
          </a:prstGeom>
          <a:noFill/>
        </p:spPr>
        <p:txBody>
          <a:bodyPr vert="vert270" wrap="square">
            <a:spAutoFit/>
          </a:bodyPr>
          <a:lstStyle/>
          <a:p>
            <a:r>
              <a:rPr lang="ru-RU" sz="1200" dirty="0"/>
              <a:t>Время обработки (мс)</a:t>
            </a:r>
          </a:p>
        </p:txBody>
      </p:sp>
    </p:spTree>
    <p:extLst>
      <p:ext uri="{BB962C8B-B14F-4D97-AF65-F5344CB8AC3E}">
        <p14:creationId xmlns:p14="http://schemas.microsoft.com/office/powerpoint/2010/main" val="3449820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931DFAB9-32B0-2055-0400-CAC0B722A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13</a:t>
            </a:fld>
            <a:endParaRPr lang="ru-RU" dirty="0"/>
          </a:p>
        </p:txBody>
      </p:sp>
      <p:pic>
        <p:nvPicPr>
          <p:cNvPr id="4" name="video">
            <a:hlinkClick r:id="" action="ppaction://media"/>
            <a:extLst>
              <a:ext uri="{FF2B5EF4-FFF2-40B4-BE49-F238E27FC236}">
                <a16:creationId xmlns:a16="http://schemas.microsoft.com/office/drawing/2014/main" id="{176E46DC-C96C-1B1E-1B7E-EC57D2CB2E2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312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576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397129" y="6171414"/>
            <a:ext cx="593287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14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Результаты работы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349527" y="1405284"/>
            <a:ext cx="11344245" cy="4606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Все 6 задач выполнены в полном объёме. </a:t>
            </a:r>
          </a:p>
          <a:p>
            <a:pPr>
              <a:lnSpc>
                <a:spcPct val="150000"/>
              </a:lnSpc>
            </a:pPr>
            <a:r>
              <a:rPr lang="ru-RU" dirty="0"/>
              <a:t>Разработан программный комплекс, не имеющий прямых аналогов среди существующих решений.</a:t>
            </a:r>
          </a:p>
          <a:p>
            <a:pPr>
              <a:lnSpc>
                <a:spcPct val="150000"/>
              </a:lnSpc>
            </a:pPr>
            <a:r>
              <a:rPr lang="ru-RU" dirty="0"/>
              <a:t>Ключевые характеристики: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Задержка прокси: ≤ 3,01 мс;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Точность Rate </a:t>
            </a:r>
            <a:r>
              <a:rPr lang="ru-RU" dirty="0" err="1"/>
              <a:t>Limiting</a:t>
            </a:r>
            <a:r>
              <a:rPr lang="ru-RU" dirty="0"/>
              <a:t>: 99,87% от теоретического лимита;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Время обнаружения сбоя: ≤ 30 с;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Впервые реализовано централизованное управление с индивидуальным Rate </a:t>
            </a:r>
            <a:r>
              <a:rPr lang="ru-RU" dirty="0" err="1"/>
              <a:t>Limiting</a:t>
            </a:r>
            <a:r>
              <a:rPr lang="ru-RU" dirty="0"/>
              <a:t> и </a:t>
            </a:r>
            <a:r>
              <a:rPr lang="ru-RU" dirty="0" err="1"/>
              <a:t>агентно</a:t>
            </a:r>
            <a:r>
              <a:rPr lang="ru-RU" dirty="0"/>
              <a:t>-независимым SSH/SCP-взаимодействием без ПО на целевых узлах</a:t>
            </a:r>
            <a:r>
              <a:rPr lang="en-US" dirty="0"/>
              <a:t>;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Направления развития: динамическая маршрутизация по содержимому запроса, ролевая модель доступа, поддержка не-JVM артефактов;</a:t>
            </a:r>
          </a:p>
        </p:txBody>
      </p:sp>
    </p:spTree>
    <p:extLst>
      <p:ext uri="{BB962C8B-B14F-4D97-AF65-F5344CB8AC3E}">
        <p14:creationId xmlns:p14="http://schemas.microsoft.com/office/powerpoint/2010/main" val="1950367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537880" y="723037"/>
            <a:ext cx="76541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Спасибо за внимание!</a:t>
            </a:r>
            <a:endParaRPr lang="ru-RU" sz="2800" dirty="0">
              <a:latin typeface="Gilroy Medium" panose="00000600000000000000" charset="-5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76899" y="2951946"/>
            <a:ext cx="11887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РАЗРАБОТКА СИСТЕМЫ ДЛЯ ПРОКСИРОВАНИЯ И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МОНИТОРИНГА ИМИТАЦИОННЫХ СЕРВИСОВ В СРЕДЕ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НАГРУЗОЧНОГО ТЕСТИРОВАНИЯ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8C808-D44B-4FFB-A9B8-91FA34E1C60F}"/>
              </a:ext>
            </a:extLst>
          </p:cNvPr>
          <p:cNvSpPr txBox="1"/>
          <p:nvPr/>
        </p:nvSpPr>
        <p:spPr>
          <a:xfrm>
            <a:off x="7373922" y="4597930"/>
            <a:ext cx="422175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Студент: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Медведев Клим Николаевич,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группа 221-329.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Научный руководитель: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 err="1">
                <a:latin typeface="Gilroy Medium" panose="00000600000000000000" charset="-52"/>
              </a:rPr>
              <a:t>Кружалов</a:t>
            </a:r>
            <a:r>
              <a:rPr lang="ru-RU" sz="1800" dirty="0">
                <a:latin typeface="Gilroy Medium" panose="00000600000000000000" charset="-52"/>
              </a:rPr>
              <a:t> Алексей Сергеевич,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</a:t>
            </a:r>
            <a:r>
              <a:rPr lang="ru-RU" sz="1800" dirty="0">
                <a:latin typeface="Gilroy Medium" panose="00000600000000000000" charset="-52"/>
              </a:rPr>
              <a:t>тарший преп</a:t>
            </a:r>
            <a:r>
              <a:rPr lang="ru-RU" dirty="0">
                <a:latin typeface="Gilroy Medium" panose="00000600000000000000" charset="-52"/>
              </a:rPr>
              <a:t>одаватель.</a:t>
            </a:r>
            <a:endParaRPr lang="ru-RU" sz="1800" dirty="0">
              <a:solidFill>
                <a:schemeClr val="tx1"/>
              </a:solidFill>
              <a:latin typeface="Gilroy Medium" panose="00000600000000000000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Москва, 4 июня 2026</a:t>
            </a:r>
          </a:p>
        </p:txBody>
      </p:sp>
    </p:spTree>
    <p:extLst>
      <p:ext uri="{BB962C8B-B14F-4D97-AF65-F5344CB8AC3E}">
        <p14:creationId xmlns:p14="http://schemas.microsoft.com/office/powerpoint/2010/main" val="317611758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2">
  <a:themeElements>
    <a:clrScheme name="Московский Политех">
      <a:dk1>
        <a:sysClr val="windowText" lastClr="000000"/>
      </a:dk1>
      <a:lt1>
        <a:sysClr val="window" lastClr="FFFFFF"/>
      </a:lt1>
      <a:dk2>
        <a:srgbClr val="171616"/>
      </a:dk2>
      <a:lt2>
        <a:srgbClr val="E7E6E6"/>
      </a:lt2>
      <a:accent1>
        <a:srgbClr val="E61E46"/>
      </a:accent1>
      <a:accent2>
        <a:srgbClr val="1E3E8D"/>
      </a:accent2>
      <a:accent3>
        <a:srgbClr val="A5A5A5"/>
      </a:accent3>
      <a:accent4>
        <a:srgbClr val="60DCCA"/>
      </a:accent4>
      <a:accent5>
        <a:srgbClr val="3478BC"/>
      </a:accent5>
      <a:accent6>
        <a:srgbClr val="E94572"/>
      </a:accent6>
      <a:hlink>
        <a:srgbClr val="3478BC"/>
      </a:hlink>
      <a:folHlink>
        <a:srgbClr val="E94572"/>
      </a:folHlink>
    </a:clrScheme>
    <a:fontScheme name="Другая 2">
      <a:majorFont>
        <a:latin typeface="Verdana 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6" id="{2AEEDDF9-59ED-463C-8E0C-BF21DC8B3CB6}" vid="{CDD37877-5C07-4AD6-AFB2-357C367BDEC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Shablon_Moscow_Poly_v3</Template>
  <TotalTime>1161</TotalTime>
  <Words>939</Words>
  <Application>Microsoft Office PowerPoint</Application>
  <PresentationFormat>Широкоэкранный</PresentationFormat>
  <Paragraphs>211</Paragraphs>
  <Slides>15</Slides>
  <Notes>14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2" baseType="lpstr">
      <vt:lpstr>Gilroy Medium</vt:lpstr>
      <vt:lpstr>Verdana</vt:lpstr>
      <vt:lpstr>Aptos Narrow</vt:lpstr>
      <vt:lpstr>Gilroy Bold</vt:lpstr>
      <vt:lpstr>Arial</vt:lpstr>
      <vt:lpstr>Calibri</vt:lpstr>
      <vt:lpstr>Тема2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Veronika Natur</dc:creator>
  <cp:lastModifiedBy>Клим Медведев</cp:lastModifiedBy>
  <cp:revision>52</cp:revision>
  <dcterms:created xsi:type="dcterms:W3CDTF">2024-05-27T20:04:35Z</dcterms:created>
  <dcterms:modified xsi:type="dcterms:W3CDTF">2026-06-03T11:00:48Z</dcterms:modified>
</cp:coreProperties>
</file>
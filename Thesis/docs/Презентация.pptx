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6"/>
  </p:notesMasterIdLst>
  <p:sldIdLst>
    <p:sldId id="256" r:id="rId2"/>
    <p:sldId id="274" r:id="rId3"/>
    <p:sldId id="272" r:id="rId4"/>
    <p:sldId id="273" r:id="rId5"/>
    <p:sldId id="275" r:id="rId6"/>
    <p:sldId id="276" r:id="rId7"/>
    <p:sldId id="284" r:id="rId8"/>
    <p:sldId id="277" r:id="rId9"/>
    <p:sldId id="278" r:id="rId10"/>
    <p:sldId id="279" r:id="rId11"/>
    <p:sldId id="280" r:id="rId12"/>
    <p:sldId id="281" r:id="rId13"/>
    <p:sldId id="282" r:id="rId14"/>
    <p:sldId id="283" r:id="rId15"/>
  </p:sldIdLst>
  <p:sldSz cx="12192000" cy="6858000"/>
  <p:notesSz cx="6858000" cy="9144000"/>
  <p:embeddedFontLst>
    <p:embeddedFont>
      <p:font typeface="Aptos Narrow" panose="020B0004020202020204" pitchFamily="34" charset="0"/>
      <p:regular r:id="rId17"/>
      <p:bold r:id="rId18"/>
      <p:italic r:id="rId19"/>
      <p:boldItalic r:id="rId20"/>
    </p:embeddedFont>
    <p:embeddedFont>
      <p:font typeface="Gilroy Bold" panose="00000800000000000000" charset="-52"/>
      <p:bold r:id="rId21"/>
    </p:embeddedFont>
    <p:embeddedFont>
      <p:font typeface="Gilroy Medium" panose="00000600000000000000" charset="-52"/>
      <p:regular r:id="rId22"/>
    </p:embeddedFont>
    <p:embeddedFont>
      <p:font typeface="Verdana" panose="020B0604030504040204" pitchFamily="34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0" y="294"/>
      </p:cViewPr>
      <p:guideLst>
        <p:guide orient="horz" pos="50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482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61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6698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049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5128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6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106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74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102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06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256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9934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6937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24.05.2026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24.05.2026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24.05.2026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24.05.2026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24.05.2026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24.05.2026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24.05.2026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24.05.2026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ВЫПУСКНАЯ КВАЛИФИКАЦИОННАЯ РАБОТА</a:t>
            </a: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«Системная и программная инженерия»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Актуальность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2115050"/>
            <a:ext cx="11344245" cy="2997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При нагрузочном тестировании сложных систем требуются десятки имитационных сервисов (заглушек). Ручное управление ими — трудоёмко и ненадёжно.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Проблемы существующих решений: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</a:t>
            </a:r>
            <a:r>
              <a:rPr lang="ru-RU" sz="1600" dirty="0" err="1"/>
              <a:t>ireMock</a:t>
            </a:r>
            <a:r>
              <a:rPr lang="ru-RU" sz="1600" dirty="0"/>
              <a:t>, </a:t>
            </a:r>
            <a:r>
              <a:rPr lang="ru-RU" sz="1600" dirty="0" err="1"/>
              <a:t>MockServer</a:t>
            </a:r>
            <a:r>
              <a:rPr lang="ru-RU" sz="1600" dirty="0"/>
              <a:t>, </a:t>
            </a:r>
            <a:r>
              <a:rPr lang="ru-RU" sz="1600" dirty="0" err="1"/>
              <a:t>Mountebank</a:t>
            </a:r>
            <a:r>
              <a:rPr lang="ru-RU" sz="1600" dirty="0"/>
              <a:t> не управляют инфраструктурой JAR/WAR-процессов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Apache </a:t>
            </a:r>
            <a:r>
              <a:rPr lang="ru-RU" sz="1600" dirty="0" err="1"/>
              <a:t>Tomcat</a:t>
            </a:r>
            <a:r>
              <a:rPr lang="ru-RU" sz="1600" dirty="0"/>
              <a:t> избыточен и не поддерживает динамический Rate </a:t>
            </a:r>
            <a:r>
              <a:rPr lang="ru-RU" sz="1600" dirty="0" err="1"/>
              <a:t>Limiting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Все зарубежные решения косвенно совместимы с ОС Astra Linux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Вывод:</a:t>
            </a:r>
            <a:r>
              <a:rPr lang="ru-RU" sz="1600" dirty="0"/>
              <a:t> ни одно из существующих решений не решает задачу централизованного управления распределённой инфраструктурой </a:t>
            </a:r>
            <a:r>
              <a:rPr lang="en-US" sz="1600" dirty="0"/>
              <a:t>mock</a:t>
            </a:r>
            <a:r>
              <a:rPr lang="ru-RU" sz="1600" dirty="0"/>
              <a:t>-сервисов в условиях импортозамещения</a:t>
            </a:r>
          </a:p>
        </p:txBody>
      </p:sp>
    </p:spTree>
    <p:extLst>
      <p:ext uri="{BB962C8B-B14F-4D97-AF65-F5344CB8AC3E}">
        <p14:creationId xmlns:p14="http://schemas.microsoft.com/office/powerpoint/2010/main" val="5316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Цель и задачи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 работы</a:t>
            </a:r>
            <a:endParaRPr lang="ru-RU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1339916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Цель:</a:t>
            </a:r>
            <a:r>
              <a:rPr lang="ru-RU" dirty="0"/>
              <a:t> спроектировать и разработать автоматизированную информационную систему для централизованного управления имитационными сервисами в среде нагрузочного тестирования и мониторинга их состояния.</a:t>
            </a:r>
          </a:p>
          <a:p>
            <a:pPr>
              <a:lnSpc>
                <a:spcPct val="150000"/>
              </a:lnSpc>
            </a:pP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Задачи:</a:t>
            </a:r>
            <a:endParaRPr lang="ru-RU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Провести анализ предметной области и существующих подходов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Спроектировать архитектуру программного комплекса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Обосновать выбор технологического стека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Разработать алгоритмы </a:t>
            </a:r>
            <a:r>
              <a:rPr lang="ru-RU" dirty="0" err="1"/>
              <a:t>проксирования</a:t>
            </a:r>
            <a:r>
              <a:rPr lang="ru-RU" dirty="0"/>
              <a:t>, Rate </a:t>
            </a:r>
            <a:r>
              <a:rPr lang="ru-RU" dirty="0" err="1"/>
              <a:t>Limiting</a:t>
            </a:r>
            <a:r>
              <a:rPr lang="ru-RU" dirty="0"/>
              <a:t> и API управления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Реализовать систему хранения конфигураций и контроля состояний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Провести тестирование в среде ОС Astra Linux</a:t>
            </a:r>
          </a:p>
        </p:txBody>
      </p:sp>
    </p:spTree>
    <p:extLst>
      <p:ext uri="{BB962C8B-B14F-4D97-AF65-F5344CB8AC3E}">
        <p14:creationId xmlns:p14="http://schemas.microsoft.com/office/powerpoint/2010/main" val="403781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413512"/>
            <a:ext cx="82891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Анализ аналогов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97130" y="1564009"/>
            <a:ext cx="7434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Сравнительный анализ существующих решений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B75CB1B-6AEB-C021-38CD-884737E09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053544"/>
              </p:ext>
            </p:extLst>
          </p:nvPr>
        </p:nvGraphicFramePr>
        <p:xfrm>
          <a:off x="497130" y="2135036"/>
          <a:ext cx="11197740" cy="315895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39548">
                  <a:extLst>
                    <a:ext uri="{9D8B030D-6E8A-4147-A177-3AD203B41FA5}">
                      <a16:colId xmlns:a16="http://schemas.microsoft.com/office/drawing/2014/main" val="221562262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193038394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1993197335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62939308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3470350277"/>
                    </a:ext>
                  </a:extLst>
                </a:gridCol>
              </a:tblGrid>
              <a:tr h="339555">
                <a:tc>
                  <a:txBody>
                    <a:bodyPr/>
                    <a:lstStyle/>
                    <a:p>
                      <a:r>
                        <a:rPr lang="ru-RU" sz="1600"/>
                        <a:t>Критерий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WireMock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MockServer</a:t>
                      </a:r>
                      <a:endParaRPr lang="en-US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Apache Tomcat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Разраб. система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6299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Управление JAR/WAR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040357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 dirty="0"/>
                        <a:t>Централизованная </a:t>
                      </a:r>
                      <a:r>
                        <a:rPr lang="ru-RU" sz="1600" dirty="0" err="1"/>
                        <a:t>оркестрация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54382769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/>
                        <a:t>Динамический </a:t>
                      </a:r>
                      <a:r>
                        <a:rPr lang="en-US" sz="1600"/>
                        <a:t>Rate Limiting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741136"/>
                  </a:ext>
                </a:extLst>
              </a:tr>
              <a:tr h="173788">
                <a:tc>
                  <a:txBody>
                    <a:bodyPr/>
                    <a:lstStyle/>
                    <a:p>
                      <a:r>
                        <a:rPr lang="ru-RU" sz="1600"/>
                        <a:t>Потребление ресурсов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Низкое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34642467"/>
                  </a:ext>
                </a:extLst>
              </a:tr>
              <a:tr h="451845">
                <a:tc>
                  <a:txBody>
                    <a:bodyPr/>
                    <a:lstStyle/>
                    <a:p>
                      <a:r>
                        <a:rPr lang="ru-RU" sz="1600"/>
                        <a:t>Совместимость с </a:t>
                      </a:r>
                      <a:r>
                        <a:rPr lang="en-US" sz="1600"/>
                        <a:t>Astra Linux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3600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901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39755" y="536629"/>
            <a:ext cx="102825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Архитектура и технологический стек</a:t>
            </a:r>
          </a:p>
        </p:txBody>
      </p:sp>
      <p:pic>
        <p:nvPicPr>
          <p:cNvPr id="8" name="Рисунок 7" descr="Изображение выглядит как текст, снимок экрана, Шрифт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91AAAA8-EB26-EB61-1803-37F426256D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623" r="1301" b="2469"/>
          <a:stretch/>
        </p:blipFill>
        <p:spPr>
          <a:xfrm>
            <a:off x="493057" y="1121404"/>
            <a:ext cx="7712635" cy="503228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2183D14-AFAE-7A8F-C3EA-489652D8C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0848" y="1544028"/>
            <a:ext cx="941542" cy="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dis SVG and transparent PNG icons | TechIcons">
            <a:extLst>
              <a:ext uri="{FF2B5EF4-FFF2-40B4-BE49-F238E27FC236}">
                <a16:creationId xmlns:a16="http://schemas.microsoft.com/office/drawing/2014/main" id="{AB39A782-0B95-12FE-464E-021B27DCE4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5634" y="1856558"/>
            <a:ext cx="1125127" cy="112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FastAPI — UberLab 7 documentation">
            <a:extLst>
              <a:ext uri="{FF2B5EF4-FFF2-40B4-BE49-F238E27FC236}">
                <a16:creationId xmlns:a16="http://schemas.microsoft.com/office/drawing/2014/main" id="{3FBB3363-EB8D-ACF5-A5D1-FAC152C14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6557" y="5263113"/>
            <a:ext cx="2367897" cy="854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ML - Wikipedia">
            <a:extLst>
              <a:ext uri="{FF2B5EF4-FFF2-40B4-BE49-F238E27FC236}">
                <a16:creationId xmlns:a16="http://schemas.microsoft.com/office/drawing/2014/main" id="{9C3207DC-53C6-F54E-9B33-231CAE29C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5311" y="3290777"/>
            <a:ext cx="962492" cy="9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Jinja2 - secure and fast Python template engine — Quintagroup">
            <a:extLst>
              <a:ext uri="{FF2B5EF4-FFF2-40B4-BE49-F238E27FC236}">
                <a16:creationId xmlns:a16="http://schemas.microsoft.com/office/drawing/2014/main" id="{399D4E95-BAC4-0255-C7C9-E090FD491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434" y="3876316"/>
            <a:ext cx="1273509" cy="1273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Российская операционная система Astra Linux, официальная русская ОС">
            <a:extLst>
              <a:ext uri="{FF2B5EF4-FFF2-40B4-BE49-F238E27FC236}">
                <a16:creationId xmlns:a16="http://schemas.microsoft.com/office/drawing/2014/main" id="{FB2D7E23-B26E-5CC3-9B08-340F09D23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0016" y="4952797"/>
            <a:ext cx="2575647" cy="974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910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91529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Структуры данных</a:t>
            </a:r>
          </a:p>
        </p:txBody>
      </p:sp>
      <p:pic>
        <p:nvPicPr>
          <p:cNvPr id="8" name="Рисунок 7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D97ABA3-4301-9AF9-6B01-C31A20F5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9126" y="1534238"/>
            <a:ext cx="6198469" cy="4518969"/>
          </a:xfrm>
          <a:prstGeom prst="rect">
            <a:avLst/>
          </a:prstGeom>
        </p:spPr>
      </p:pic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76625936-398F-5383-1D69-99BCCFC1F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077903"/>
              </p:ext>
            </p:extLst>
          </p:nvPr>
        </p:nvGraphicFramePr>
        <p:xfrm>
          <a:off x="201584" y="1071868"/>
          <a:ext cx="5331708" cy="489443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275893">
                  <a:extLst>
                    <a:ext uri="{9D8B030D-6E8A-4147-A177-3AD203B41FA5}">
                      <a16:colId xmlns:a16="http://schemas.microsoft.com/office/drawing/2014/main" val="3718854607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122733606"/>
                    </a:ext>
                  </a:extLst>
                </a:gridCol>
                <a:gridCol w="2344615">
                  <a:extLst>
                    <a:ext uri="{9D8B030D-6E8A-4147-A177-3AD203B41FA5}">
                      <a16:colId xmlns:a16="http://schemas.microsoft.com/office/drawing/2014/main" val="4218300197"/>
                    </a:ext>
                  </a:extLst>
                </a:gridCol>
              </a:tblGrid>
              <a:tr h="258953"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Ключ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Тип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Назначение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3735483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mocks:{filename}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Конфигурация и состояние заглушки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3053325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mocks:registry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Множество имён файлов всех заглушек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6743543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hosts:{hostname}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Hash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Конфигурация целевого хоста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5230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hosts:registry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hostname </a:t>
                      </a:r>
                      <a:r>
                        <a:rPr lang="ru-RU" sz="1200" u="none" strike="noStrike" dirty="0">
                          <a:effectLst/>
                        </a:rPr>
                        <a:t>всех хостов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1967908"/>
                  </a:ext>
                </a:extLst>
              </a:tr>
              <a:tr h="3848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accounts:{uuid}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Учётная запись </a:t>
                      </a:r>
                      <a:r>
                        <a:rPr lang="en-US" sz="1200" u="none" strike="noStrike" dirty="0">
                          <a:effectLst/>
                        </a:rPr>
                        <a:t>SSH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46145835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err="1">
                          <a:effectLst/>
                        </a:rPr>
                        <a:t>accounts:registry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UUID </a:t>
                      </a:r>
                      <a:r>
                        <a:rPr lang="ru-RU" sz="1200" u="none" strike="noStrike" dirty="0">
                          <a:effectLst/>
                        </a:rPr>
                        <a:t>учётных записей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7430999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rate:{filename}:{window}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String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err="1">
                          <a:effectLst/>
                        </a:rPr>
                        <a:t>Счётчик</a:t>
                      </a:r>
                      <a:r>
                        <a:rPr lang="en-US" sz="1200" u="none" strike="noStrike" dirty="0">
                          <a:effectLst/>
                        </a:rPr>
                        <a:t> Rate Limiter (с TTL)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2347782"/>
                  </a:ext>
                </a:extLst>
              </a:tr>
              <a:tr h="7625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settings:global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Глобальные параметры приложения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2181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21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Топология развёртывания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199" y="1466723"/>
            <a:ext cx="4001247" cy="3751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1600" dirty="0"/>
              <a:t>Система поддерживает два режима без изменения кодовой базы: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/>
              <a:t>Cluster Mode</a:t>
            </a:r>
            <a:r>
              <a:rPr lang="ru-RU" sz="1600" dirty="0"/>
              <a:t>: один управляющий узел координирует несколько удалённых хостов через SSH/SFTP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 err="1"/>
              <a:t>Standalone</a:t>
            </a:r>
            <a:r>
              <a:rPr lang="ru-RU" sz="1600" b="1" dirty="0"/>
              <a:t> Mode</a:t>
            </a:r>
            <a:r>
              <a:rPr lang="ru-RU" sz="1600" dirty="0"/>
              <a:t>: все компоненты на одном сервере</a:t>
            </a:r>
            <a:br>
              <a:rPr lang="ru-RU" sz="1600" dirty="0"/>
            </a:br>
            <a:r>
              <a:rPr lang="ru-RU" sz="1600" dirty="0"/>
              <a:t>На целевых хостах не требуется установка агентов — только SSH-сервер и </a:t>
            </a:r>
            <a:r>
              <a:rPr lang="ru-RU" sz="1600" dirty="0" err="1"/>
              <a:t>OpenJDK</a:t>
            </a:r>
            <a:r>
              <a:rPr lang="ru-RU" sz="1600" dirty="0"/>
              <a:t> 17.</a:t>
            </a:r>
          </a:p>
        </p:txBody>
      </p:sp>
      <p:pic>
        <p:nvPicPr>
          <p:cNvPr id="5" name="Рисунок 4" descr="Изображение выглядит как текст, снимок экрана, Шрифт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FF6725E-7A65-7549-CB3D-7730642851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3137" y="1212568"/>
            <a:ext cx="7231664" cy="4965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7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Проксирование</a:t>
            </a:r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 и Rate </a:t>
            </a:r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Limiting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pic>
        <p:nvPicPr>
          <p:cNvPr id="8" name="Рисунок 7" descr="Изображение выглядит как текст, снимок экрана, диаграмма, График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CE38F7F-E48C-9123-6382-1AB58F7F6D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64" r="23981" b="4588"/>
          <a:stretch/>
        </p:blipFill>
        <p:spPr>
          <a:xfrm>
            <a:off x="1162424" y="2045369"/>
            <a:ext cx="4933576" cy="3052560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, Шриф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D5AC783-F67F-FDD4-576E-ACC0063AD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8144" y="1024064"/>
            <a:ext cx="3815968" cy="5296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9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Управление жизненным циклом</a:t>
            </a:r>
          </a:p>
        </p:txBody>
      </p:sp>
      <p:pic>
        <p:nvPicPr>
          <p:cNvPr id="16" name="Рисунок 15" descr="Изображение выглядит как текст, диаграмма, снимок экрана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E3491A9-48E7-593B-2B39-4313488462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09"/>
          <a:stretch/>
        </p:blipFill>
        <p:spPr>
          <a:xfrm>
            <a:off x="193420" y="1343223"/>
            <a:ext cx="11091411" cy="461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22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19435" y="6171414"/>
            <a:ext cx="670981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Веб-интерфейс</a:t>
            </a:r>
          </a:p>
        </p:txBody>
      </p:sp>
      <p:pic>
        <p:nvPicPr>
          <p:cNvPr id="8" name="Рисунок 7" descr="Изображение выглядит как снимок экрана, текст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E465F4B-2EBA-AED5-FE23-0B26601860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45" t="16332" r="37598" b="16380"/>
          <a:stretch/>
        </p:blipFill>
        <p:spPr>
          <a:xfrm>
            <a:off x="585694" y="1122029"/>
            <a:ext cx="3663577" cy="4989165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217A559-9D78-C0DC-05A9-C855890DBD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841"/>
          <a:stretch/>
        </p:blipFill>
        <p:spPr>
          <a:xfrm>
            <a:off x="4521355" y="1290990"/>
            <a:ext cx="7264079" cy="465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26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44941" y="6171414"/>
            <a:ext cx="545475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11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Функциональное тестирование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4333BB9-A0A9-AF68-A54E-4D37143EC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137228"/>
              </p:ext>
            </p:extLst>
          </p:nvPr>
        </p:nvGraphicFramePr>
        <p:xfrm>
          <a:off x="914400" y="1659284"/>
          <a:ext cx="10282239" cy="35511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620904">
                  <a:extLst>
                    <a:ext uri="{9D8B030D-6E8A-4147-A177-3AD203B41FA5}">
                      <a16:colId xmlns:a16="http://schemas.microsoft.com/office/drawing/2014/main" val="1472585013"/>
                    </a:ext>
                  </a:extLst>
                </a:gridCol>
                <a:gridCol w="1719618">
                  <a:extLst>
                    <a:ext uri="{9D8B030D-6E8A-4147-A177-3AD203B41FA5}">
                      <a16:colId xmlns:a16="http://schemas.microsoft.com/office/drawing/2014/main" val="3833472201"/>
                    </a:ext>
                  </a:extLst>
                </a:gridCol>
                <a:gridCol w="3941717">
                  <a:extLst>
                    <a:ext uri="{9D8B030D-6E8A-4147-A177-3AD203B41FA5}">
                      <a16:colId xmlns:a16="http://schemas.microsoft.com/office/drawing/2014/main" val="25349097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Успешность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8259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/>
                        <a:t>Перезапуск при работающих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Статусы </a:t>
                      </a:r>
                      <a:r>
                        <a:rPr lang="en-US" sz="1600" dirty="0"/>
                        <a:t>RUNNING </a:t>
                      </a:r>
                      <a:r>
                        <a:rPr lang="ru-RU" sz="1600" dirty="0"/>
                        <a:t>сохранены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19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Перезапуск при завершённых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Автоматический перезапуск </a:t>
                      </a:r>
                      <a:r>
                        <a:rPr lang="en-US" sz="1600" dirty="0"/>
                        <a:t>mock</a:t>
                      </a:r>
                      <a:r>
                        <a:rPr lang="ru-RU" sz="1600" dirty="0"/>
                        <a:t>-сервисов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414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Восстановление после аварии </a:t>
                      </a:r>
                      <a:r>
                        <a:rPr lang="en-US" sz="1600" dirty="0"/>
                        <a:t>Redis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Данные восстановлены из </a:t>
                      </a:r>
                      <a:r>
                        <a:rPr lang="en-US" sz="1600" dirty="0"/>
                        <a:t>AOF-</a:t>
                      </a:r>
                      <a:r>
                        <a:rPr lang="ru-RU" sz="1600" dirty="0"/>
                        <a:t>журнала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646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Обнаружение сбоя планировщиком </a:t>
                      </a:r>
                      <a:r>
                        <a:rPr lang="en-US" sz="1600" dirty="0" err="1"/>
                        <a:t>HealthChecker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ERROR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42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 err="1"/>
                        <a:t>Автовозврат</a:t>
                      </a:r>
                      <a:r>
                        <a:rPr lang="ru-RU" sz="1600" dirty="0"/>
                        <a:t> из ERROR в RUNNING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RUNNING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26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6337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>
                <a:latin typeface="Gilroy Bold" panose="00000800000000000000" pitchFamily="2" charset="-52"/>
                <a:ea typeface="+mj-ea"/>
                <a:cs typeface="+mj-cs"/>
              </a:rPr>
              <a:t>Нагрузочное тестирование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09377" y="1079764"/>
            <a:ext cx="10729120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Инструмент: k6. Наблюдение через </a:t>
            </a:r>
            <a:r>
              <a:rPr lang="ru-RU" sz="1600" dirty="0" err="1"/>
              <a:t>эндпоинт</a:t>
            </a:r>
            <a:r>
              <a:rPr lang="ru-RU" sz="1600" dirty="0"/>
              <a:t> /</a:t>
            </a:r>
            <a:r>
              <a:rPr lang="ru-RU" sz="1600" dirty="0" err="1"/>
              <a:t>metrics</a:t>
            </a:r>
            <a:r>
              <a:rPr lang="ru-RU" sz="1600" dirty="0"/>
              <a:t> (</a:t>
            </a:r>
            <a:r>
              <a:rPr lang="ru-RU" sz="1600" dirty="0" err="1"/>
              <a:t>Prometheus</a:t>
            </a:r>
            <a:r>
              <a:rPr lang="ru-RU" sz="1600" dirty="0"/>
              <a:t>).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E7AA6F9-7395-8004-5D71-C8FCE9E11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751237"/>
              </p:ext>
            </p:extLst>
          </p:nvPr>
        </p:nvGraphicFramePr>
        <p:xfrm>
          <a:off x="271929" y="2583462"/>
          <a:ext cx="4897718" cy="210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068604">
                  <a:extLst>
                    <a:ext uri="{9D8B030D-6E8A-4147-A177-3AD203B41FA5}">
                      <a16:colId xmlns:a16="http://schemas.microsoft.com/office/drawing/2014/main" val="4246277828"/>
                    </a:ext>
                  </a:extLst>
                </a:gridCol>
                <a:gridCol w="1399013">
                  <a:extLst>
                    <a:ext uri="{9D8B030D-6E8A-4147-A177-3AD203B41FA5}">
                      <a16:colId xmlns:a16="http://schemas.microsoft.com/office/drawing/2014/main" val="3350268425"/>
                    </a:ext>
                  </a:extLst>
                </a:gridCol>
                <a:gridCol w="1430101">
                  <a:extLst>
                    <a:ext uri="{9D8B030D-6E8A-4147-A177-3AD203B41FA5}">
                      <a16:colId xmlns:a16="http://schemas.microsoft.com/office/drawing/2014/main" val="3905350028"/>
                    </a:ext>
                  </a:extLst>
                </a:gridCol>
              </a:tblGrid>
              <a:tr h="14748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Показатель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3529245"/>
                  </a:ext>
                </a:extLst>
              </a:tr>
              <a:tr h="30725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Базовая нагрузка </a:t>
                      </a:r>
                      <a:br>
                        <a:rPr lang="en-US" sz="1200" dirty="0"/>
                      </a:br>
                      <a:r>
                        <a:rPr lang="ru-RU" sz="1200" dirty="0"/>
                        <a:t>(10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3,90 мс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5834927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Нарастающая нагрузка (500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3,01 мс — линейный рост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857546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Нарастающая нагрузка (1000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10,52 мс — без отказов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051413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/>
                        <a:t>Rate Limiting (</a:t>
                      </a:r>
                      <a:r>
                        <a:rPr lang="ru-RU" sz="1200"/>
                        <a:t>лимит 250, нагрузка 500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Отклонение от лимита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b="1" dirty="0"/>
                        <a:t>0,13%</a:t>
                      </a:r>
                      <a:endParaRPr lang="ru-RU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924372"/>
                  </a:ext>
                </a:extLst>
              </a:tr>
            </a:tbl>
          </a:graphicData>
        </a:graphic>
      </p:graphicFrame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4DAF39F-C49B-1916-F851-A0E5D76329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222" y="1702623"/>
            <a:ext cx="6207157" cy="386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Результаты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49527" y="1659284"/>
            <a:ext cx="11344245" cy="3775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Все 6 задач выполнены в полном объёме. </a:t>
            </a:r>
          </a:p>
          <a:p>
            <a:pPr>
              <a:lnSpc>
                <a:spcPct val="150000"/>
              </a:lnSpc>
            </a:pPr>
            <a:r>
              <a:rPr lang="ru-RU" dirty="0"/>
              <a:t>Разработан программный комплекс, не имеющий прямых аналогов среди существующих решений.</a:t>
            </a:r>
          </a:p>
          <a:p>
            <a:pPr>
              <a:lnSpc>
                <a:spcPct val="150000"/>
              </a:lnSpc>
            </a:pPr>
            <a:r>
              <a:rPr lang="ru-RU" dirty="0"/>
              <a:t>Ключевые характеристики: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Задержка прокси: ≤ 3,01 мс при нагрузке до 500 RPS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Точность Rate </a:t>
            </a:r>
            <a:r>
              <a:rPr lang="ru-RU" dirty="0" err="1"/>
              <a:t>Limiting</a:t>
            </a:r>
            <a:r>
              <a:rPr lang="ru-RU" dirty="0"/>
              <a:t>: отклонение 0,13% от теоретического лимита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Время обнаружения сбоя: ≤ 30 с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Направления развития: динамическая маршрутизация по содержимому запроса, ролевая модель доступа, поддержка не-JVM артефактов</a:t>
            </a:r>
          </a:p>
        </p:txBody>
      </p:sp>
    </p:spTree>
    <p:extLst>
      <p:ext uri="{BB962C8B-B14F-4D97-AF65-F5344CB8AC3E}">
        <p14:creationId xmlns:p14="http://schemas.microsoft.com/office/powerpoint/2010/main" val="1950367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537880" y="723037"/>
            <a:ext cx="7654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Спасибо за внимание!</a:t>
            </a:r>
            <a:endParaRPr lang="ru-RU" sz="2800" dirty="0">
              <a:latin typeface="Gilroy Medium" panose="00000600000000000000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31761175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837</TotalTime>
  <Words>885</Words>
  <Application>Microsoft Office PowerPoint</Application>
  <PresentationFormat>Широкоэкранный</PresentationFormat>
  <Paragraphs>204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Gilroy Bold</vt:lpstr>
      <vt:lpstr>Aptos Narrow</vt:lpstr>
      <vt:lpstr>Verdana</vt:lpstr>
      <vt:lpstr>Calibri</vt:lpstr>
      <vt:lpstr>Arial</vt:lpstr>
      <vt:lpstr>Gilroy Medium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Veronika Natur</dc:creator>
  <cp:lastModifiedBy>Клим Медведев</cp:lastModifiedBy>
  <cp:revision>45</cp:revision>
  <dcterms:created xsi:type="dcterms:W3CDTF">2024-05-27T20:04:35Z</dcterms:created>
  <dcterms:modified xsi:type="dcterms:W3CDTF">2026-05-24T07:13:19Z</dcterms:modified>
</cp:coreProperties>
</file>
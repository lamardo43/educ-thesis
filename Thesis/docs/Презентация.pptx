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Gilroy Bold" panose="00000800000000000000" pitchFamily="50" charset="-52"/>
      <p:bold r:id="rId21"/>
    </p:embeddedFont>
    <p:embeddedFont>
      <p:font typeface="Gilroy Medium" panose="00000600000000000000" pitchFamily="5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60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10.05.2026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10.05.2026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10.05.2026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10.05.2026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10.05.2026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10.05.2026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10.05.2026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10.05.2026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2115050"/>
            <a:ext cx="11344245" cy="2997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закрывает задачу централизованного управления распределённой инфраструктурой заглушек в условиях импортозамещения</a:t>
            </a:r>
          </a:p>
        </p:txBody>
      </p:sp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Цели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745718"/>
            <a:ext cx="11344245" cy="33665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b="1" dirty="0"/>
              <a:t>Цель:</a:t>
            </a:r>
            <a:r>
              <a:rPr lang="ru-RU" sz="1600" dirty="0"/>
              <a:t> спроектировать и реализовать АИС для централизованного управления и мониторинга распределённой инфраструктуры имитационных сервисов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Задачи:</a:t>
            </a:r>
            <a:endParaRPr lang="ru-RU" sz="1600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Провести анализ предметной области и существующих подходов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Спроектировать архитектуру программного комплекса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Обосновать выбор технологического стека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Разработать алгоритмы </a:t>
            </a:r>
            <a:r>
              <a:rPr lang="ru-RU" sz="1600" dirty="0" err="1"/>
              <a:t>проксирования</a:t>
            </a:r>
            <a:r>
              <a:rPr lang="ru-RU" sz="1600" dirty="0"/>
              <a:t>, Rate </a:t>
            </a:r>
            <a:r>
              <a:rPr lang="ru-RU" sz="1600" dirty="0" err="1"/>
              <a:t>Limiting</a:t>
            </a:r>
            <a:r>
              <a:rPr lang="ru-RU" sz="1600" dirty="0"/>
              <a:t> и API управления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Реализовать систему хранения конфигураций и контроля состояний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Провести тестирование в среде ОС Astra Linux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475040"/>
            <a:ext cx="11344245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Выбрана монолитная архитектура с выраженной внутренней модульностью. Управление удалёнными хостами — через SSH/SFTP без установки агентов.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Технологический стек:</a:t>
            </a:r>
            <a:r>
              <a:rPr lang="ru-RU" sz="1600" dirty="0"/>
              <a:t> Python + </a:t>
            </a:r>
            <a:r>
              <a:rPr lang="ru-RU" sz="1600" dirty="0" err="1"/>
              <a:t>asyncio</a:t>
            </a:r>
            <a:r>
              <a:rPr lang="ru-RU" sz="1600" dirty="0"/>
              <a:t> / </a:t>
            </a:r>
            <a:r>
              <a:rPr lang="ru-RU" sz="1600" dirty="0" err="1"/>
              <a:t>FastAPI</a:t>
            </a:r>
            <a:r>
              <a:rPr lang="ru-RU" sz="1600" dirty="0"/>
              <a:t> + </a:t>
            </a:r>
            <a:r>
              <a:rPr lang="ru-RU" sz="1600" dirty="0" err="1"/>
              <a:t>Uvicorn</a:t>
            </a:r>
            <a:r>
              <a:rPr lang="ru-RU" sz="1600" dirty="0"/>
              <a:t> / </a:t>
            </a:r>
            <a:r>
              <a:rPr lang="ru-RU" sz="1600" dirty="0" err="1"/>
              <a:t>Redis</a:t>
            </a:r>
            <a:r>
              <a:rPr lang="ru-RU" sz="1600" dirty="0"/>
              <a:t> AOF / Astra Linux</a:t>
            </a:r>
          </a:p>
        </p:txBody>
      </p:sp>
      <p:pic>
        <p:nvPicPr>
          <p:cNvPr id="8" name="Рисунок 7" descr="Изображение выглядит как текст, снимок экрана, Шрифт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91AAAA8-EB26-EB61-1803-37F426256D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623" r="1301" b="2469"/>
          <a:stretch/>
        </p:blipFill>
        <p:spPr>
          <a:xfrm>
            <a:off x="4135718" y="2625611"/>
            <a:ext cx="5693932" cy="371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411698"/>
            <a:ext cx="1134424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Для каждого объекта системы используется </a:t>
            </a:r>
            <a:r>
              <a:rPr lang="ru-RU" sz="1600" dirty="0" err="1"/>
              <a:t>Hash</a:t>
            </a:r>
            <a:r>
              <a:rPr lang="ru-RU" sz="1600" dirty="0"/>
              <a:t>-запись — позволяет читать конфигурацию целиком за одну операцию HGETALL и обновлять отдельные поля через HSET без перезаписи всей записи. Бинарный файл заглушки хранится только на целевом хосте — передаётся по SFTP при регистрации и немедленно удаляется с управляющего сервера.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2660" y="2566796"/>
            <a:ext cx="5446680" cy="360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2552" y="1527096"/>
            <a:ext cx="6183700" cy="424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1195294" y="1659284"/>
            <a:ext cx="9801413" cy="781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Прокси-модуль прозрачно маршрутизирует запросы: сохраняет метод, заголовки и тело. 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ru-RU" sz="1600" dirty="0"/>
              <a:t>При превышении лимита возвращает HTTP 429, не нагружая заглушку.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DDA008-5FC4-78D9-955B-5FE9E4E256DE}"/>
              </a:ext>
            </a:extLst>
          </p:cNvPr>
          <p:cNvSpPr txBox="1"/>
          <p:nvPr/>
        </p:nvSpPr>
        <p:spPr>
          <a:xfrm>
            <a:off x="1195294" y="2772285"/>
            <a:ext cx="980141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check_rate_limit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(filename: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limit: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window_size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1) -&gt;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Шаг 1: вычислить метку текущего окна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 = floor(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current_unix_timestamp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window_size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key = </a:t>
            </a:r>
            <a:r>
              <a:rPr lang="en-US" sz="1600" b="0" i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f"rate</a:t>
            </a:r>
            <a:r>
              <a:rPr lang="en-US" sz="1600" b="0" i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:{filename}:{window}"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Шаг 2: атомарный инкремент счётчика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 = INCR(key) </a:t>
            </a:r>
          </a:p>
          <a:p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Шаг 3: установить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TTL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создании нового окна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 == 1: EXPIRE(key, 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window_size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2)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TTL = 2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окна (запас на сдвиг времени)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Шаг 4: проверить лимит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 &gt; limit: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запрос отклонён -&gt;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HTTP 429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запрос разрешён</a:t>
            </a:r>
            <a:endParaRPr lang="ru-RU" sz="16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1863318" y="1561052"/>
            <a:ext cx="7751616" cy="3735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Запуск на удалённом хосте выполняется через SSH без установки агентов — командой </a:t>
            </a:r>
            <a:r>
              <a:rPr lang="ru-RU" sz="1600" dirty="0" err="1"/>
              <a:t>nohup</a:t>
            </a:r>
            <a:r>
              <a:rPr lang="ru-RU" sz="1600" dirty="0"/>
              <a:t>, PID возвращается в </a:t>
            </a:r>
            <a:r>
              <a:rPr lang="ru-RU" sz="1600" dirty="0" err="1"/>
              <a:t>stdout</a:t>
            </a:r>
            <a:r>
              <a:rPr lang="ru-RU" sz="1600" dirty="0"/>
              <a:t> и сохраняется в </a:t>
            </a:r>
            <a:r>
              <a:rPr lang="ru-RU" sz="1600" dirty="0" err="1"/>
              <a:t>Redis</a:t>
            </a:r>
            <a:r>
              <a:rPr lang="ru-RU" sz="16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Остановка реализует двухэтапный протокол: сначала SIGTERM, затем при отсутствии реакции в течение 5 секунд — SIGKILL. Оба этапа выполняются асинхронно, не блокируя обработку других запросов.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При перезапуске системы </a:t>
            </a:r>
            <a:r>
              <a:rPr lang="ru-RU" sz="1600" dirty="0" err="1"/>
              <a:t>restore_state</a:t>
            </a:r>
            <a:r>
              <a:rPr lang="ru-RU" sz="1600" dirty="0"/>
              <a:t> проверяет фактический PID каждой заглушки и автоматически перезапускает завершившиеся процессы с сохранёнными JVM-аргументами. </a:t>
            </a:r>
            <a:r>
              <a:rPr lang="ru-RU" sz="1600" dirty="0" err="1"/>
              <a:t>HealthChecker</a:t>
            </a:r>
            <a:r>
              <a:rPr lang="ru-RU" sz="1600" dirty="0"/>
              <a:t> обнаруживает сбой за ≤ 30 с.</a:t>
            </a:r>
          </a:p>
        </p:txBody>
      </p:sp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692660" y="1503233"/>
            <a:ext cx="9814179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Реализован на </a:t>
            </a:r>
            <a:r>
              <a:rPr lang="en-US" sz="1600" dirty="0"/>
              <a:t>Server-Side Rendering (</a:t>
            </a:r>
            <a:r>
              <a:rPr lang="en-US" sz="1600" dirty="0" err="1"/>
              <a:t>FastAPI</a:t>
            </a:r>
            <a:r>
              <a:rPr lang="en-US" sz="1600" dirty="0"/>
              <a:t> + Jinja2) </a:t>
            </a:r>
            <a:r>
              <a:rPr lang="ru-RU" sz="1600" dirty="0"/>
              <a:t>без внешних зависимостей. 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ru-RU" sz="1600" dirty="0"/>
              <a:t>Статус каждой заглушки кодируется цветом: 🟢 </a:t>
            </a:r>
            <a:r>
              <a:rPr lang="en-US" sz="1600" dirty="0"/>
              <a:t>RUNNING / </a:t>
            </a:r>
            <a:r>
              <a:rPr lang="ru-RU" sz="1600" dirty="0"/>
              <a:t>🟡 </a:t>
            </a:r>
            <a:r>
              <a:rPr lang="en-US" sz="1600" dirty="0"/>
              <a:t>STOPPED / </a:t>
            </a:r>
            <a:r>
              <a:rPr lang="ru-RU" sz="1600" dirty="0"/>
              <a:t>🔴 </a:t>
            </a:r>
            <a:r>
              <a:rPr lang="en-US" sz="1600" dirty="0"/>
              <a:t>ERROR. </a:t>
            </a:r>
            <a:endParaRPr lang="ru-RU" sz="1600" dirty="0"/>
          </a:p>
          <a:p>
            <a:pPr>
              <a:lnSpc>
                <a:spcPct val="150000"/>
              </a:lnSpc>
            </a:pPr>
            <a:r>
              <a:rPr lang="ru-RU" sz="1600" dirty="0"/>
              <a:t>Таблица обновляется автоматически каждые 5 секунд.</a:t>
            </a:r>
          </a:p>
        </p:txBody>
      </p:sp>
      <p:pic>
        <p:nvPicPr>
          <p:cNvPr id="5" name="Рисунок 4" descr="Изображение выглядит как снимок экрана, текст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C78FB8E-26D2-3DBB-7B5D-C2506D87F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894"/>
          <a:stretch/>
        </p:blipFill>
        <p:spPr>
          <a:xfrm>
            <a:off x="692660" y="3035007"/>
            <a:ext cx="10806680" cy="270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954880" y="1586177"/>
            <a:ext cx="49282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Результаты функционального тестирования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520182"/>
              </p:ext>
            </p:extLst>
          </p:nvPr>
        </p:nvGraphicFramePr>
        <p:xfrm>
          <a:off x="954880" y="2388879"/>
          <a:ext cx="10282239" cy="2743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Автоматический перезапуск заглушек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Обнаружение сбоя планировщиком </a:t>
                      </a:r>
                      <a:r>
                        <a:rPr lang="en-US" sz="1600"/>
                        <a:t>HealthChecker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Автовозврат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954880" y="1593430"/>
            <a:ext cx="10729120" cy="781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Результаты нагрузочного тестирования прокси-модуля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514608"/>
              </p:ext>
            </p:extLst>
          </p:nvPr>
        </p:nvGraphicFramePr>
        <p:xfrm>
          <a:off x="954880" y="2707554"/>
          <a:ext cx="10282239" cy="265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427413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34274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3427413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ru-RU" sz="180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ru-RU" sz="1800"/>
                        <a:t>Базовая нагрузка (10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proxy_total_ms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ru-RU" sz="1800"/>
                        <a:t>Нарастающая нагрузка (500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proxy_total_ms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ru-RU" sz="1800"/>
                        <a:t>Нарастающая нагрузка (1000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proxy_total_ms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/>
                        <a:t>Rate Limiting (</a:t>
                      </a:r>
                      <a:r>
                        <a:rPr lang="ru-RU" sz="1800"/>
                        <a:t>лимит 250, нагрузка 500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0,13%</a:t>
                      </a:r>
                      <a:endParaRPr lang="ru-RU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659285"/>
            <a:ext cx="11344245" cy="3735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Задержка прокси: ≤ 3,01 мс при нагрузке до 500 RPS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Точность Rate </a:t>
            </a:r>
            <a:r>
              <a:rPr lang="ru-RU" sz="1600" dirty="0" err="1"/>
              <a:t>Limiting</a:t>
            </a:r>
            <a:r>
              <a:rPr lang="ru-RU" sz="1600" dirty="0"/>
              <a:t>: отклонение 0,13% от теоретического лимита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Время обнаружения сбоя: ≤ 30 с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Научная новизна: </a:t>
            </a:r>
            <a:r>
              <a:rPr lang="ru-RU" sz="1600" dirty="0" err="1"/>
              <a:t>агентно</a:t>
            </a:r>
            <a:r>
              <a:rPr lang="ru-RU" sz="1600" dirty="0"/>
              <a:t>-независимое управление распределённой средой заглушек с индивидуальным Rate </a:t>
            </a:r>
            <a:r>
              <a:rPr lang="ru-RU" sz="1600" dirty="0" err="1"/>
              <a:t>Limiting</a:t>
            </a:r>
            <a:r>
              <a:rPr lang="ru-RU" sz="1600" dirty="0"/>
              <a:t> для каждого сервиса без перезапуска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Направления развития: динамическая маршрутизация по содержимому запроса, ролевая модель доступа, поддержка не-JVM артефактов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645</TotalTime>
  <Words>1179</Words>
  <Application>Microsoft Office PowerPoint</Application>
  <PresentationFormat>Широкоэкранный</PresentationFormat>
  <Paragraphs>201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Calibri</vt:lpstr>
      <vt:lpstr>Gilroy Medium</vt:lpstr>
      <vt:lpstr>Gilroy Bold</vt:lpstr>
      <vt:lpstr>Verdana</vt:lpstr>
      <vt:lpstr>Arial</vt:lpstr>
      <vt:lpstr>Consolas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40</cp:revision>
  <dcterms:created xsi:type="dcterms:W3CDTF">2024-05-27T20:04:35Z</dcterms:created>
  <dcterms:modified xsi:type="dcterms:W3CDTF">2026-05-10T18:53:29Z</dcterms:modified>
</cp:coreProperties>
</file>